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Track 2 starts from a scorer-confirmed genetic input, not from a drug list. The BUB1B L737-star plus N1002K pair received 100 out of 100 rank points and F-max 1.000 at EPCR 0.78. That validates the ranking, but not phase, mechanism, or therapy.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gate is phase. The two variants are 10,911 base pairs apart, so short-read read-backed phasing cannot directly connect them. Parental genotyping is the simplest decisive route. Only after phase do we compare WT and N1002K across matched BUBR1 abundance, using chromosome missegregation per completed division as the primary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experiment can return abundance-dominant, function-dominant, mixed, or indeterminate. If raising N1002K abundance restores function, a conditional proteostasis test becomes admissible. If a functional defect persists at matched abundance, no approved drug in our audited target space qualifies as a credible causal rescue. We stop repurposing rather than weakening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repaired the approved-drug audit. Exact component-aware mapping, approval filtering, and explicit NOT-RUN states replaced the earlier ranking logic. The important result is not a winner: database-rich direct inhibitors and downstream kinases are easy to recover, while desired indirect rescue mechanisms are sparse. Coverage tells us what can be tested; it does not establish therapeutic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NB09 then asks whether a test is pharmacologically credible. Arimoclomol is FDA-approved for NPC, while CHMP issued a negative European opinion in July 2026 and re-examination is ongoing. Recommended-regimen pediatric Cmax is about 1.67 micromolar as free-base equivalent, far below some high-micromolar mechanistic experiments. That does not prove inefficacy in MVA. It means approval is not enough, and the first experiment must start in a clinically anchored low-micromolar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NB17 fixes our evidence ceiling before seeing N1002K: with six benign and five pathogenic controls, even perfect separation reaches only ClinGen Moderate strength, never Strong, and the assay threshold is locked from controls before unblinding. NB10 separately shows that false rescue must fail. Its synthetic moderate scenario assumes a 40 percent true reduction, while the decision threshold is 25 percent. Cytostasis and selective killing score zero clean rescues. Four replicates are a QC floor; our target is eight, with effect sizes and 95 percent confidence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family and clinical team, the answer is simple. The BUB1B pair is the leading hypothesis, not a proven diagnosis or treatment. The cheapest decisive next test is parental genotyping: in trans, the recessive model becomes much stronger; in cis, the search reopens. Track 2 provides a pre-specified way to continue only when the biology supports it, and to stop when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6510528"/>
            <a:ext cx="11365992" cy="0"/>
          </a:xfrm>
          <a:prstGeom prst="line">
            <a:avLst/>
          </a:prstGeom>
          <a:noFill/>
          <a:ln w="10160">
            <a:solidFill>
              <a:srgbClr val="D1D5DB"/>
            </a:solidFill>
            <a:prstDash val="solid"/>
          </a:ln>
        </p:spPr>
      </p:sp>
      <p:sp>
        <p:nvSpPr>
          <p:cNvPr id="3" name="Text 1"/>
          <p:cNvSpPr/>
          <p:nvPr/>
        </p:nvSpPr>
        <p:spPr>
          <a:xfrm>
            <a:off x="502920" y="6565392"/>
            <a:ext cx="3840480" cy="164592"/>
          </a:xfrm>
          <a:prstGeom prst="rect">
            <a:avLst/>
          </a:prstGeom>
          <a:noFill/>
          <a:ln/>
        </p:spPr>
        <p:txBody>
          <a:bodyPr wrap="square" lIns="0" tIns="0" rIns="0" bIns="0" rtlCol="0" anchor="ctr"/>
          <a:lstStyle/>
          <a:p>
            <a:pPr indent="0" marL="0">
              <a:buNone/>
            </a:pPr>
            <a:r>
              <a:rPr lang="en-US" sz="950" dirty="0">
                <a:solidFill>
                  <a:srgbClr val="6B7280"/>
                </a:solidFill>
                <a:latin typeface="Arimo" pitchFamily="34" charset="0"/>
                <a:ea typeface="Arimo" pitchFamily="34" charset="-122"/>
                <a:cs typeface="Arimo" pitchFamily="34" charset="-120"/>
              </a:rPr>
              <a:t>MVA Hackathon 2026 | Track 2</a:t>
            </a:r>
            <a:endParaRPr lang="en-US" sz="950" dirty="0"/>
          </a:p>
        </p:txBody>
      </p:sp>
      <p:sp>
        <p:nvSpPr>
          <p:cNvPr id="25" name="Slide Number Placeholder 0"/>
          <p:cNvSpPr>
            <a:spLocks noGrp="1"/>
          </p:cNvSpPr>
          <p:nvPr>
            <p:ph type="sldNum" sz="quarter" idx="4294967295"/>
          </p:nvPr>
        </p:nvSpPr>
        <p:spPr>
          <a:xfrm>
            <a:off x="11265408" y="6565392"/>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9CA3AF"/>
                </a:solidFill>
                <a:latin typeface="Arimo"/>
                <a:ea typeface="Arimo"/>
                <a:cs typeface="Arimo"/>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65408" y="6565392"/>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9CA3AF"/>
                </a:solidFill>
                <a:latin typeface="Arimo"/>
                <a:ea typeface="Arimo"/>
                <a:cs typeface="Arim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0744200" y="329184"/>
            <a:ext cx="941832" cy="292608"/>
          </a:xfrm>
          <a:prstGeom prst="roundRect">
            <a:avLst>
              <a:gd name="adj" fmla="val 18750"/>
            </a:avLst>
          </a:prstGeom>
          <a:solidFill>
            <a:srgbClr val="F3F4F6"/>
          </a:solidFill>
          <a:ln w="7620">
            <a:solidFill>
              <a:srgbClr val="D1D5DB"/>
            </a:solidFill>
            <a:prstDash val="solid"/>
          </a:ln>
        </p:spPr>
        <p:txBody>
          <a:bodyPr/>
          <a:p/>
        </p:txBody>
      </p:sp>
      <p:sp>
        <p:nvSpPr>
          <p:cNvPr id="3" name="Text 1"/>
          <p:cNvSpPr/>
          <p:nvPr/>
        </p:nvSpPr>
        <p:spPr>
          <a:xfrm>
            <a:off x="10762488" y="361188"/>
            <a:ext cx="905256" cy="173736"/>
          </a:xfrm>
          <a:prstGeom prst="rect">
            <a:avLst/>
          </a:prstGeom>
          <a:noFill/>
          <a:ln/>
        </p:spPr>
        <p:txBody>
          <a:bodyPr wrap="square" lIns="0" tIns="0" rIns="0" bIns="0" rtlCol="0" anchor="ctr">
            <a:normAutofit/>
          </a:bodyPr>
          <a:lstStyle/>
          <a:p>
            <a:r>
              <a:t>0:00-0:18</a:t>
            </a:r>
          </a:p>
        </p:txBody>
      </p:sp>
      <p:sp>
        <p:nvSpPr>
          <p:cNvPr id="4" name="Text 2"/>
          <p:cNvSpPr/>
          <p:nvPr/>
        </p:nvSpPr>
        <p:spPr>
          <a:xfrm>
            <a:off x="502920" y="329184"/>
            <a:ext cx="10012680" cy="502920"/>
          </a:xfrm>
          <a:prstGeom prst="rect">
            <a:avLst/>
          </a:prstGeom>
          <a:noFill/>
          <a:ln/>
        </p:spPr>
        <p:txBody>
          <a:bodyPr wrap="square" lIns="0" tIns="0" rIns="0" bIns="0" rtlCol="0" anchor="ctr">
            <a:normAutofit/>
          </a:bodyPr>
          <a:lstStyle/>
          <a:p>
            <a:pPr algn="l" indent="0" marL="0">
              <a:buNone/>
            </a:pPr>
            <a:r>
              <a:rPr lang="en-US" sz="2700" b="1" dirty="0">
                <a:solidFill>
                  <a:srgbClr val="111827"/>
                </a:solidFill>
                <a:latin typeface="Arimo" pitchFamily="34" charset="0"/>
                <a:ea typeface="Arimo" pitchFamily="34" charset="-122"/>
                <a:cs typeface="Arimo" pitchFamily="34" charset="-120"/>
              </a:rPr>
              <a:t>Track 2: mechanism before treatment</a:t>
            </a:r>
            <a:endParaRPr lang="en-US" sz="2700" dirty="0"/>
          </a:p>
        </p:txBody>
      </p:sp>
      <p:sp>
        <p:nvSpPr>
          <p:cNvPr id="5" name="Text 3"/>
          <p:cNvSpPr/>
          <p:nvPr/>
        </p:nvSpPr>
        <p:spPr>
          <a:xfrm>
            <a:off x="502920" y="841248"/>
            <a:ext cx="10012680" cy="310896"/>
          </a:xfrm>
          <a:prstGeom prst="rect">
            <a:avLst/>
          </a:prstGeom>
          <a:noFill/>
          <a:ln/>
        </p:spPr>
        <p:txBody>
          <a:bodyPr wrap="square" lIns="0" tIns="0" rIns="0" bIns="0" rtlCol="0" anchor="ctr">
            <a:normAutofit/>
          </a:bodyPr>
          <a:lstStyle/>
          <a:p>
            <a:pPr algn="l" indent="0" marL="0">
              <a:buNone/>
            </a:pPr>
            <a:r>
              <a:rPr lang="en-US" sz="1350" dirty="0">
                <a:solidFill>
                  <a:srgbClr val="4B5563"/>
                </a:solidFill>
                <a:latin typeface="Arimo" pitchFamily="34" charset="0"/>
                <a:ea typeface="Arimo" pitchFamily="34" charset="-122"/>
                <a:cs typeface="Arimo" pitchFamily="34" charset="-120"/>
              </a:rPr>
              <a:t>Start from a scorer-confirmed genetic ranking, not from a drug list</a:t>
            </a:r>
            <a:endParaRPr lang="en-US" sz="1350" dirty="0"/>
          </a:p>
        </p:txBody>
      </p:sp>
      <p:sp>
        <p:nvSpPr>
          <p:cNvPr id="6" name="Shape 4"/>
          <p:cNvSpPr/>
          <p:nvPr/>
        </p:nvSpPr>
        <p:spPr>
          <a:xfrm>
            <a:off x="548640" y="1417320"/>
            <a:ext cx="3794760" cy="4160520"/>
          </a:xfrm>
          <a:prstGeom prst="roundRect">
            <a:avLst>
              <a:gd name="adj" fmla="val 1928"/>
            </a:avLst>
          </a:prstGeom>
          <a:solidFill>
            <a:srgbClr val="EFF6FF"/>
          </a:solidFill>
          <a:ln w="12700">
            <a:solidFill>
              <a:srgbClr val="BFDBFE"/>
            </a:solidFill>
            <a:prstDash val="solid"/>
          </a:ln>
        </p:spPr>
      </p:sp>
      <p:sp>
        <p:nvSpPr>
          <p:cNvPr id="7" name="Text 5"/>
          <p:cNvSpPr/>
          <p:nvPr/>
        </p:nvSpPr>
        <p:spPr>
          <a:xfrm>
            <a:off x="868680" y="1783080"/>
            <a:ext cx="3154680" cy="777240"/>
          </a:xfrm>
          <a:prstGeom prst="rect">
            <a:avLst/>
          </a:prstGeom>
          <a:noFill/>
          <a:ln/>
        </p:spPr>
        <p:txBody>
          <a:bodyPr wrap="square" lIns="0" tIns="0" rIns="0" bIns="0" rtlCol="0" anchor="ctr">
            <a:normAutofit/>
          </a:bodyPr>
          <a:lstStyle/>
          <a:p>
            <a:pPr algn="ctr" indent="0" marL="0">
              <a:buNone/>
            </a:pPr>
            <a:r>
              <a:rPr lang="en-US" sz="4000" b="1" dirty="0">
                <a:solidFill>
                  <a:srgbClr val="2563EB"/>
                </a:solidFill>
                <a:latin typeface="Arimo" pitchFamily="34" charset="0"/>
                <a:ea typeface="Arimo" pitchFamily="34" charset="-122"/>
                <a:cs typeface="Arimo" pitchFamily="34" charset="-120"/>
              </a:rPr>
              <a:t>100 / 100</a:t>
            </a:r>
            <a:endParaRPr lang="en-US" sz="4000" dirty="0"/>
          </a:p>
        </p:txBody>
      </p:sp>
      <p:sp>
        <p:nvSpPr>
          <p:cNvPr id="8" name="Text 6"/>
          <p:cNvSpPr/>
          <p:nvPr/>
        </p:nvSpPr>
        <p:spPr>
          <a:xfrm>
            <a:off x="1005840" y="2587752"/>
            <a:ext cx="2880360" cy="329184"/>
          </a:xfrm>
          <a:prstGeom prst="rect">
            <a:avLst/>
          </a:prstGeom>
          <a:noFill/>
          <a:ln/>
        </p:spPr>
        <p:txBody>
          <a:bodyPr wrap="square" lIns="0" tIns="0" rIns="0" bIns="0" rtlCol="0" anchor="ctr">
            <a:normAutofit/>
          </a:bodyPr>
          <a:lstStyle/>
          <a:p>
            <a:pPr algn="ctr" indent="0" marL="0">
              <a:buNone/>
            </a:pPr>
            <a:r>
              <a:rPr lang="en-US" sz="1700" dirty="0">
                <a:solidFill>
                  <a:srgbClr val="4B5563"/>
                </a:solidFill>
                <a:latin typeface="Arimo" pitchFamily="34" charset="0"/>
                <a:ea typeface="Arimo" pitchFamily="34" charset="-122"/>
                <a:cs typeface="Arimo" pitchFamily="34" charset="-120"/>
              </a:rPr>
              <a:t>rank points</a:t>
            </a:r>
            <a:endParaRPr lang="en-US" sz="1700" dirty="0"/>
          </a:p>
        </p:txBody>
      </p:sp>
      <p:sp>
        <p:nvSpPr>
          <p:cNvPr id="9" name="Shape 7"/>
          <p:cNvSpPr/>
          <p:nvPr/>
        </p:nvSpPr>
        <p:spPr>
          <a:xfrm>
            <a:off x="1051560" y="3063240"/>
            <a:ext cx="2788920" cy="0"/>
          </a:xfrm>
          <a:prstGeom prst="line">
            <a:avLst/>
          </a:prstGeom>
          <a:noFill/>
          <a:ln w="15240">
            <a:solidFill>
              <a:srgbClr val="BFDBFE"/>
            </a:solidFill>
            <a:prstDash val="solid"/>
          </a:ln>
        </p:spPr>
      </p:sp>
      <p:sp>
        <p:nvSpPr>
          <p:cNvPr id="10" name="Text 8"/>
          <p:cNvSpPr/>
          <p:nvPr/>
        </p:nvSpPr>
        <p:spPr>
          <a:xfrm>
            <a:off x="941832" y="3364992"/>
            <a:ext cx="914400" cy="274320"/>
          </a:xfrm>
          <a:prstGeom prst="rect">
            <a:avLst/>
          </a:prstGeom>
          <a:noFill/>
          <a:ln/>
        </p:spPr>
        <p:txBody>
          <a:bodyPr wrap="square" lIns="0" tIns="0" rIns="0" bIns="0" rtlCol="0" anchor="ctr">
            <a:normAutofit/>
          </a:bodyPr>
          <a:lstStyle/>
          <a:p>
            <a:pPr algn="l" indent="0" marL="0">
              <a:buNone/>
            </a:pPr>
            <a:r>
              <a:rPr lang="en-US" sz="1500" dirty="0">
                <a:solidFill>
                  <a:srgbClr val="4B5563"/>
                </a:solidFill>
                <a:latin typeface="Arimo" pitchFamily="34" charset="0"/>
                <a:ea typeface="Arimo" pitchFamily="34" charset="-122"/>
                <a:cs typeface="Arimo" pitchFamily="34" charset="-120"/>
              </a:rPr>
              <a:t>F-max</a:t>
            </a:r>
            <a:endParaRPr lang="en-US" sz="1500" dirty="0"/>
          </a:p>
        </p:txBody>
      </p:sp>
      <p:sp>
        <p:nvSpPr>
          <p:cNvPr id="11" name="Text 9"/>
          <p:cNvSpPr/>
          <p:nvPr/>
        </p:nvSpPr>
        <p:spPr>
          <a:xfrm>
            <a:off x="1828800" y="3291840"/>
            <a:ext cx="1645920" cy="384048"/>
          </a:xfrm>
          <a:prstGeom prst="rect">
            <a:avLst/>
          </a:prstGeom>
          <a:noFill/>
          <a:ln/>
        </p:spPr>
        <p:txBody>
          <a:bodyPr wrap="square" lIns="0" tIns="0" rIns="0" bIns="0" rtlCol="0" anchor="ctr">
            <a:normAutofit/>
          </a:bodyPr>
          <a:lstStyle/>
          <a:p>
            <a:pPr algn="l" indent="0" marL="0">
              <a:buNone/>
            </a:pPr>
            <a:r>
              <a:rPr lang="en-US" sz="2500" b="1" dirty="0">
                <a:solidFill>
                  <a:srgbClr val="111827"/>
                </a:solidFill>
                <a:latin typeface="Arimo" pitchFamily="34" charset="0"/>
                <a:ea typeface="Arimo" pitchFamily="34" charset="-122"/>
                <a:cs typeface="Arimo" pitchFamily="34" charset="-120"/>
              </a:rPr>
              <a:t>1.000</a:t>
            </a:r>
            <a:endParaRPr lang="en-US" sz="2500" dirty="0"/>
          </a:p>
        </p:txBody>
      </p:sp>
      <p:sp>
        <p:nvSpPr>
          <p:cNvPr id="12" name="Text 10"/>
          <p:cNvSpPr/>
          <p:nvPr/>
        </p:nvSpPr>
        <p:spPr>
          <a:xfrm>
            <a:off x="941832" y="3886200"/>
            <a:ext cx="914400" cy="274320"/>
          </a:xfrm>
          <a:prstGeom prst="rect">
            <a:avLst/>
          </a:prstGeom>
          <a:noFill/>
          <a:ln/>
        </p:spPr>
        <p:txBody>
          <a:bodyPr wrap="square" lIns="0" tIns="0" rIns="0" bIns="0" rtlCol="0" anchor="ctr">
            <a:normAutofit/>
          </a:bodyPr>
          <a:lstStyle/>
          <a:p>
            <a:pPr algn="l" indent="0" marL="0">
              <a:buNone/>
            </a:pPr>
            <a:r>
              <a:rPr lang="en-US" sz="1500" dirty="0">
                <a:solidFill>
                  <a:srgbClr val="4B5563"/>
                </a:solidFill>
                <a:latin typeface="Arimo" pitchFamily="34" charset="0"/>
                <a:ea typeface="Arimo" pitchFamily="34" charset="-122"/>
                <a:cs typeface="Arimo" pitchFamily="34" charset="-120"/>
              </a:rPr>
              <a:t>EPCR</a:t>
            </a:r>
            <a:endParaRPr lang="en-US" sz="1500" dirty="0"/>
          </a:p>
        </p:txBody>
      </p:sp>
      <p:sp>
        <p:nvSpPr>
          <p:cNvPr id="13" name="Text 11"/>
          <p:cNvSpPr/>
          <p:nvPr/>
        </p:nvSpPr>
        <p:spPr>
          <a:xfrm>
            <a:off x="1828800" y="3822192"/>
            <a:ext cx="1645920" cy="384048"/>
          </a:xfrm>
          <a:prstGeom prst="rect">
            <a:avLst/>
          </a:prstGeom>
          <a:noFill/>
          <a:ln/>
        </p:spPr>
        <p:txBody>
          <a:bodyPr wrap="square" lIns="0" tIns="0" rIns="0" bIns="0" rtlCol="0" anchor="ctr">
            <a:normAutofit/>
          </a:bodyPr>
          <a:lstStyle/>
          <a:p>
            <a:pPr algn="l" indent="0" marL="0">
              <a:buNone/>
            </a:pPr>
            <a:r>
              <a:rPr lang="en-US" sz="2500" b="1" dirty="0">
                <a:solidFill>
                  <a:srgbClr val="111827"/>
                </a:solidFill>
                <a:latin typeface="Arimo" pitchFamily="34" charset="0"/>
                <a:ea typeface="Arimo" pitchFamily="34" charset="-122"/>
                <a:cs typeface="Arimo" pitchFamily="34" charset="-120"/>
              </a:rPr>
              <a:t>0.78</a:t>
            </a:r>
            <a:endParaRPr lang="en-US" sz="2500" dirty="0"/>
          </a:p>
        </p:txBody>
      </p:sp>
      <p:sp>
        <p:nvSpPr>
          <p:cNvPr id="14" name="Text 12"/>
          <p:cNvSpPr/>
          <p:nvPr/>
        </p:nvSpPr>
        <p:spPr>
          <a:xfrm>
            <a:off x="868680" y="4846320"/>
            <a:ext cx="3154680" cy="384048"/>
          </a:xfrm>
          <a:prstGeom prst="rect">
            <a:avLst/>
          </a:prstGeom>
          <a:noFill/>
          <a:ln/>
        </p:spPr>
        <p:txBody>
          <a:bodyPr wrap="square" lIns="0" tIns="0" rIns="0" bIns="0" rtlCol="0" anchor="ctr">
            <a:normAutofit/>
          </a:bodyPr>
          <a:lstStyle/>
          <a:p>
            <a:pPr algn="ctr" indent="0" marL="0">
              <a:buNone/>
            </a:pPr>
            <a:r>
              <a:rPr lang="en-US" sz="1800" b="1" dirty="0">
                <a:solidFill>
                  <a:srgbClr val="111827"/>
                </a:solidFill>
                <a:latin typeface="Arimo" pitchFamily="34" charset="0"/>
                <a:ea typeface="Arimo" pitchFamily="34" charset="-122"/>
                <a:cs typeface="Arimo" pitchFamily="34" charset="-120"/>
              </a:rPr>
              <a:t>BUB1B L737* + N1002K</a:t>
            </a:r>
            <a:endParaRPr lang="en-US" sz="1800" dirty="0"/>
          </a:p>
        </p:txBody>
      </p:sp>
      <p:sp>
        <p:nvSpPr>
          <p:cNvPr id="15" name="Shape 13"/>
          <p:cNvSpPr/>
          <p:nvPr/>
        </p:nvSpPr>
        <p:spPr>
          <a:xfrm>
            <a:off x="4736592" y="1417320"/>
            <a:ext cx="6885432" cy="4160520"/>
          </a:xfrm>
          <a:prstGeom prst="roundRect">
            <a:avLst>
              <a:gd name="adj" fmla="val 1758"/>
            </a:avLst>
          </a:prstGeom>
          <a:solidFill>
            <a:srgbClr val="FFFFFF"/>
          </a:solidFill>
          <a:ln w="12700">
            <a:solidFill>
              <a:srgbClr val="D1D5DB"/>
            </a:solidFill>
            <a:prstDash val="solid"/>
          </a:ln>
        </p:spPr>
      </p:sp>
      <p:sp>
        <p:nvSpPr>
          <p:cNvPr id="16" name="Text 14"/>
          <p:cNvSpPr/>
          <p:nvPr/>
        </p:nvSpPr>
        <p:spPr>
          <a:xfrm>
            <a:off x="5138928" y="1755648"/>
            <a:ext cx="2606040" cy="310896"/>
          </a:xfrm>
          <a:prstGeom prst="rect">
            <a:avLst/>
          </a:prstGeom>
          <a:noFill/>
          <a:ln/>
        </p:spPr>
        <p:txBody>
          <a:bodyPr wrap="square" lIns="0" tIns="0" rIns="0" bIns="0" rtlCol="0" anchor="ctr">
            <a:normAutofit/>
          </a:bodyPr>
          <a:lstStyle/>
          <a:p>
            <a:pPr algn="l" indent="0" marL="0">
              <a:buNone/>
            </a:pPr>
            <a:r>
              <a:rPr lang="en-US" sz="1600" b="1" dirty="0">
                <a:solidFill>
                  <a:srgbClr val="0F766E"/>
                </a:solidFill>
                <a:latin typeface="Arimo" pitchFamily="34" charset="0"/>
                <a:ea typeface="Arimo" pitchFamily="34" charset="-122"/>
                <a:cs typeface="Arimo" pitchFamily="34" charset="-120"/>
              </a:rPr>
              <a:t>What this validates</a:t>
            </a:r>
            <a:endParaRPr lang="en-US" sz="1600" dirty="0"/>
          </a:p>
        </p:txBody>
      </p:sp>
      <p:sp>
        <p:nvSpPr>
          <p:cNvPr id="17" name="Shape 15"/>
          <p:cNvSpPr/>
          <p:nvPr/>
        </p:nvSpPr>
        <p:spPr>
          <a:xfrm>
            <a:off x="9070848" y="1700784"/>
            <a:ext cx="1325880" cy="329184"/>
          </a:xfrm>
          <a:prstGeom prst="roundRect">
            <a:avLst>
              <a:gd name="adj" fmla="val 33333"/>
            </a:avLst>
          </a:prstGeom>
          <a:solidFill>
            <a:srgbClr val="ECFDF5"/>
          </a:solidFill>
          <a:ln w="12700">
            <a:solidFill>
              <a:srgbClr val="ECFDF5"/>
            </a:solidFill>
            <a:prstDash val="solid"/>
          </a:ln>
        </p:spPr>
      </p:sp>
      <p:sp>
        <p:nvSpPr>
          <p:cNvPr id="18" name="Text 16"/>
          <p:cNvSpPr/>
          <p:nvPr/>
        </p:nvSpPr>
        <p:spPr>
          <a:xfrm>
            <a:off x="9144000" y="1751076"/>
            <a:ext cx="1179576" cy="201168"/>
          </a:xfrm>
          <a:prstGeom prst="rect">
            <a:avLst/>
          </a:prstGeom>
          <a:noFill/>
          <a:ln/>
        </p:spPr>
        <p:txBody>
          <a:bodyPr wrap="square" lIns="0" tIns="0" rIns="0" bIns="0" rtlCol="0" anchor="ctr">
            <a:normAutofit/>
          </a:bodyPr>
          <a:lstStyle/>
          <a:p>
            <a:pPr algn="ctr" indent="0" marL="0">
              <a:buNone/>
            </a:pPr>
            <a:r>
              <a:rPr lang="en-US" sz="1050" b="1" dirty="0">
                <a:solidFill>
                  <a:srgbClr val="0F766E"/>
                </a:solidFill>
                <a:latin typeface="Arimo" pitchFamily="34" charset="0"/>
                <a:ea typeface="Arimo" pitchFamily="34" charset="-122"/>
                <a:cs typeface="Arimo" pitchFamily="34" charset="-120"/>
              </a:rPr>
              <a:t>VALIDATED</a:t>
            </a:r>
            <a:endParaRPr lang="en-US" sz="1050" dirty="0"/>
          </a:p>
        </p:txBody>
      </p:sp>
      <p:sp>
        <p:nvSpPr>
          <p:cNvPr id="19" name="Text 17"/>
          <p:cNvSpPr/>
          <p:nvPr/>
        </p:nvSpPr>
        <p:spPr>
          <a:xfrm>
            <a:off x="5138928" y="2194560"/>
            <a:ext cx="5815584" cy="502920"/>
          </a:xfrm>
          <a:prstGeom prst="rect">
            <a:avLst/>
          </a:prstGeom>
          <a:noFill/>
          <a:ln/>
        </p:spPr>
        <p:txBody>
          <a:bodyPr wrap="square" lIns="0" tIns="0" rIns="0" bIns="0" rtlCol="0" anchor="ctr">
            <a:normAutofit/>
          </a:bodyPr>
          <a:lstStyle/>
          <a:p>
            <a:pPr algn="l" indent="0" marL="0">
              <a:buNone/>
            </a:pPr>
            <a:r>
              <a:rPr lang="en-US" sz="2100" b="1" dirty="0">
                <a:solidFill>
                  <a:srgbClr val="111827"/>
                </a:solidFill>
                <a:latin typeface="Arimo" pitchFamily="34" charset="0"/>
                <a:ea typeface="Arimo" pitchFamily="34" charset="-122"/>
                <a:cs typeface="Arimo" pitchFamily="34" charset="-120"/>
              </a:rPr>
              <a:t>Genetic ranking used as the Track 2 input</a:t>
            </a:r>
            <a:endParaRPr lang="en-US" sz="2100" dirty="0"/>
          </a:p>
        </p:txBody>
      </p:sp>
      <p:sp>
        <p:nvSpPr>
          <p:cNvPr id="20" name="Shape 18"/>
          <p:cNvSpPr/>
          <p:nvPr/>
        </p:nvSpPr>
        <p:spPr>
          <a:xfrm>
            <a:off x="5138928" y="2907792"/>
            <a:ext cx="5852160" cy="0"/>
          </a:xfrm>
          <a:prstGeom prst="line">
            <a:avLst/>
          </a:prstGeom>
          <a:noFill/>
          <a:ln w="12700">
            <a:solidFill>
              <a:srgbClr val="D1D5DB"/>
            </a:solidFill>
            <a:prstDash val="solid"/>
          </a:ln>
        </p:spPr>
      </p:sp>
      <p:sp>
        <p:nvSpPr>
          <p:cNvPr id="21" name="Text 19"/>
          <p:cNvSpPr/>
          <p:nvPr/>
        </p:nvSpPr>
        <p:spPr>
          <a:xfrm>
            <a:off x="5138928" y="3182112"/>
            <a:ext cx="3246120" cy="310896"/>
          </a:xfrm>
          <a:prstGeom prst="rect">
            <a:avLst/>
          </a:prstGeom>
          <a:noFill/>
          <a:ln/>
        </p:spPr>
        <p:txBody>
          <a:bodyPr wrap="square" lIns="0" tIns="0" rIns="0" bIns="0" rtlCol="0" anchor="ctr">
            <a:normAutofit/>
          </a:bodyPr>
          <a:lstStyle/>
          <a:p>
            <a:pPr algn="l" indent="0" marL="0">
              <a:buNone/>
            </a:pPr>
            <a:r>
              <a:rPr lang="en-US" sz="1600" b="1" dirty="0">
                <a:solidFill>
                  <a:srgbClr val="B91C1C"/>
                </a:solidFill>
                <a:latin typeface="Arimo" pitchFamily="34" charset="0"/>
                <a:ea typeface="Arimo" pitchFamily="34" charset="-122"/>
                <a:cs typeface="Arimo" pitchFamily="34" charset="-120"/>
              </a:rPr>
              <a:t>What this does NOT validate</a:t>
            </a:r>
            <a:endParaRPr lang="en-US" sz="1600" dirty="0"/>
          </a:p>
        </p:txBody>
      </p:sp>
      <p:sp>
        <p:nvSpPr>
          <p:cNvPr id="22" name="Shape 20"/>
          <p:cNvSpPr/>
          <p:nvPr/>
        </p:nvSpPr>
        <p:spPr>
          <a:xfrm>
            <a:off x="9070848" y="3127248"/>
            <a:ext cx="1508760" cy="329184"/>
          </a:xfrm>
          <a:prstGeom prst="roundRect">
            <a:avLst>
              <a:gd name="adj" fmla="val 33333"/>
            </a:avLst>
          </a:prstGeom>
          <a:solidFill>
            <a:srgbClr val="FEF2F2"/>
          </a:solidFill>
          <a:ln w="12700">
            <a:solidFill>
              <a:srgbClr val="FEF2F2"/>
            </a:solidFill>
            <a:prstDash val="solid"/>
          </a:ln>
        </p:spPr>
      </p:sp>
      <p:sp>
        <p:nvSpPr>
          <p:cNvPr id="23" name="Text 21"/>
          <p:cNvSpPr/>
          <p:nvPr/>
        </p:nvSpPr>
        <p:spPr>
          <a:xfrm>
            <a:off x="9144000" y="3177540"/>
            <a:ext cx="1362456" cy="201168"/>
          </a:xfrm>
          <a:prstGeom prst="rect">
            <a:avLst/>
          </a:prstGeom>
          <a:noFill/>
          <a:ln/>
        </p:spPr>
        <p:txBody>
          <a:bodyPr wrap="square" lIns="0" tIns="0" rIns="0" bIns="0" rtlCol="0" anchor="ctr">
            <a:normAutofit/>
          </a:bodyPr>
          <a:lstStyle/>
          <a:p>
            <a:pPr algn="ctr" indent="0" marL="0">
              <a:buNone/>
            </a:pPr>
            <a:r>
              <a:rPr lang="en-US" sz="1050" b="1" dirty="0">
                <a:solidFill>
                  <a:srgbClr val="B91C1C"/>
                </a:solidFill>
                <a:latin typeface="Arimo" pitchFamily="34" charset="0"/>
                <a:ea typeface="Arimo" pitchFamily="34" charset="-122"/>
                <a:cs typeface="Arimo" pitchFamily="34" charset="-120"/>
              </a:rPr>
              <a:t>UNRESOLVED</a:t>
            </a:r>
            <a:endParaRPr lang="en-US" sz="1050" dirty="0"/>
          </a:p>
        </p:txBody>
      </p:sp>
      <p:sp>
        <p:nvSpPr>
          <p:cNvPr id="24" name="Text 22"/>
          <p:cNvSpPr/>
          <p:nvPr/>
        </p:nvSpPr>
        <p:spPr>
          <a:xfrm>
            <a:off x="5138928" y="3675888"/>
            <a:ext cx="1371600" cy="292608"/>
          </a:xfrm>
          <a:prstGeom prst="rect">
            <a:avLst/>
          </a:prstGeom>
          <a:noFill/>
          <a:ln/>
        </p:spPr>
        <p:txBody>
          <a:bodyPr wrap="square" lIns="0" tIns="0" rIns="0" bIns="0" rtlCol="0" anchor="ctr">
            <a:normAutofit/>
          </a:bodyPr>
          <a:lstStyle/>
          <a:p>
            <a:pPr algn="l" indent="0" marL="0">
              <a:buNone/>
            </a:pPr>
            <a:r>
              <a:rPr lang="en-US" sz="1800" b="1" dirty="0">
                <a:solidFill>
                  <a:srgbClr val="111827"/>
                </a:solidFill>
                <a:latin typeface="Arimo" pitchFamily="34" charset="0"/>
                <a:ea typeface="Arimo" pitchFamily="34" charset="-122"/>
                <a:cs typeface="Arimo" pitchFamily="34" charset="-120"/>
              </a:rPr>
              <a:t>Phase</a:t>
            </a:r>
            <a:endParaRPr lang="en-US" sz="1800" dirty="0"/>
          </a:p>
        </p:txBody>
      </p:sp>
      <p:sp>
        <p:nvSpPr>
          <p:cNvPr id="25" name="Text 23"/>
          <p:cNvSpPr/>
          <p:nvPr/>
        </p:nvSpPr>
        <p:spPr>
          <a:xfrm>
            <a:off x="6537960" y="3675888"/>
            <a:ext cx="4297680" cy="292608"/>
          </a:xfrm>
          <a:prstGeom prst="rect">
            <a:avLst/>
          </a:prstGeom>
          <a:noFill/>
          <a:ln/>
        </p:spPr>
        <p:txBody>
          <a:bodyPr wrap="square" lIns="0" tIns="0" rIns="0" bIns="0" rtlCol="0" anchor="ctr">
            <a:normAutofit/>
          </a:bodyPr>
          <a:lstStyle/>
          <a:p>
            <a:pPr algn="l" indent="0" marL="0">
              <a:buNone/>
            </a:pPr>
            <a:r>
              <a:rPr lang="en-US" sz="1800" dirty="0">
                <a:solidFill>
                  <a:srgbClr val="4B5563"/>
                </a:solidFill>
                <a:latin typeface="Arimo" pitchFamily="34" charset="0"/>
                <a:ea typeface="Arimo" pitchFamily="34" charset="-122"/>
                <a:cs typeface="Arimo" pitchFamily="34" charset="-120"/>
              </a:rPr>
              <a:t>cis or trans?</a:t>
            </a:r>
            <a:endParaRPr lang="en-US" sz="1800" dirty="0"/>
          </a:p>
        </p:txBody>
      </p:sp>
      <p:sp>
        <p:nvSpPr>
          <p:cNvPr id="26" name="Text 24"/>
          <p:cNvSpPr/>
          <p:nvPr/>
        </p:nvSpPr>
        <p:spPr>
          <a:xfrm>
            <a:off x="5138928" y="4224528"/>
            <a:ext cx="1371600" cy="292608"/>
          </a:xfrm>
          <a:prstGeom prst="rect">
            <a:avLst/>
          </a:prstGeom>
          <a:noFill/>
          <a:ln/>
        </p:spPr>
        <p:txBody>
          <a:bodyPr wrap="square" lIns="0" tIns="0" rIns="0" bIns="0" rtlCol="0" anchor="ctr">
            <a:normAutofit/>
          </a:bodyPr>
          <a:lstStyle/>
          <a:p>
            <a:pPr algn="l" indent="0" marL="0">
              <a:buNone/>
            </a:pPr>
            <a:r>
              <a:rPr lang="en-US" sz="1800" b="1" dirty="0">
                <a:solidFill>
                  <a:srgbClr val="111827"/>
                </a:solidFill>
                <a:latin typeface="Arimo" pitchFamily="34" charset="0"/>
                <a:ea typeface="Arimo" pitchFamily="34" charset="-122"/>
                <a:cs typeface="Arimo" pitchFamily="34" charset="-120"/>
              </a:rPr>
              <a:t>Mechanism</a:t>
            </a:r>
            <a:endParaRPr lang="en-US" sz="1800" dirty="0"/>
          </a:p>
        </p:txBody>
      </p:sp>
      <p:sp>
        <p:nvSpPr>
          <p:cNvPr id="27" name="Text 25"/>
          <p:cNvSpPr/>
          <p:nvPr/>
        </p:nvSpPr>
        <p:spPr>
          <a:xfrm>
            <a:off x="6537960" y="4224528"/>
            <a:ext cx="4297680" cy="292608"/>
          </a:xfrm>
          <a:prstGeom prst="rect">
            <a:avLst/>
          </a:prstGeom>
          <a:noFill/>
          <a:ln/>
        </p:spPr>
        <p:txBody>
          <a:bodyPr wrap="square" lIns="0" tIns="0" rIns="0" bIns="0" rtlCol="0" anchor="ctr">
            <a:normAutofit/>
          </a:bodyPr>
          <a:lstStyle/>
          <a:p>
            <a:pPr algn="l" indent="0" marL="0">
              <a:buNone/>
            </a:pPr>
            <a:r>
              <a:rPr lang="en-US" sz="1800" dirty="0">
                <a:solidFill>
                  <a:srgbClr val="4B5563"/>
                </a:solidFill>
                <a:latin typeface="Arimo" pitchFamily="34" charset="0"/>
                <a:ea typeface="Arimo" pitchFamily="34" charset="-122"/>
                <a:cs typeface="Arimo" pitchFamily="34" charset="-120"/>
              </a:rPr>
              <a:t>what does N1002K do?</a:t>
            </a:r>
            <a:endParaRPr lang="en-US" sz="1800" dirty="0"/>
          </a:p>
        </p:txBody>
      </p:sp>
      <p:sp>
        <p:nvSpPr>
          <p:cNvPr id="28" name="Text 26"/>
          <p:cNvSpPr/>
          <p:nvPr/>
        </p:nvSpPr>
        <p:spPr>
          <a:xfrm>
            <a:off x="5138928" y="4773168"/>
            <a:ext cx="1371600" cy="292608"/>
          </a:xfrm>
          <a:prstGeom prst="rect">
            <a:avLst/>
          </a:prstGeom>
          <a:noFill/>
          <a:ln/>
        </p:spPr>
        <p:txBody>
          <a:bodyPr wrap="square" lIns="0" tIns="0" rIns="0" bIns="0" rtlCol="0" anchor="ctr">
            <a:normAutofit/>
          </a:bodyPr>
          <a:lstStyle/>
          <a:p>
            <a:pPr algn="l" indent="0" marL="0">
              <a:buNone/>
            </a:pPr>
            <a:r>
              <a:rPr lang="en-US" sz="1800" b="1" dirty="0">
                <a:solidFill>
                  <a:srgbClr val="111827"/>
                </a:solidFill>
                <a:latin typeface="Arimo" pitchFamily="34" charset="0"/>
                <a:ea typeface="Arimo" pitchFamily="34" charset="-122"/>
                <a:cs typeface="Arimo" pitchFamily="34" charset="-120"/>
              </a:rPr>
              <a:t>Therapy</a:t>
            </a:r>
            <a:endParaRPr lang="en-US" sz="1800" dirty="0"/>
          </a:p>
        </p:txBody>
      </p:sp>
      <p:sp>
        <p:nvSpPr>
          <p:cNvPr id="29" name="Text 27"/>
          <p:cNvSpPr/>
          <p:nvPr/>
        </p:nvSpPr>
        <p:spPr>
          <a:xfrm>
            <a:off x="6537960" y="4773168"/>
            <a:ext cx="4297680" cy="292608"/>
          </a:xfrm>
          <a:prstGeom prst="rect">
            <a:avLst/>
          </a:prstGeom>
          <a:noFill/>
          <a:ln/>
        </p:spPr>
        <p:txBody>
          <a:bodyPr wrap="square" lIns="0" tIns="0" rIns="0" bIns="0" rtlCol="0" anchor="ctr">
            <a:normAutofit/>
          </a:bodyPr>
          <a:lstStyle/>
          <a:p>
            <a:pPr algn="l" indent="0" marL="0">
              <a:buNone/>
            </a:pPr>
            <a:r>
              <a:rPr lang="en-US" sz="1800" dirty="0">
                <a:solidFill>
                  <a:srgbClr val="4B5563"/>
                </a:solidFill>
                <a:latin typeface="Arimo" pitchFamily="34" charset="0"/>
                <a:ea typeface="Arimo" pitchFamily="34" charset="-122"/>
                <a:cs typeface="Arimo" pitchFamily="34" charset="-120"/>
              </a:rPr>
              <a:t>does anything rescue it?</a:t>
            </a:r>
            <a:endParaRPr lang="en-US" sz="1800" dirty="0"/>
          </a:p>
        </p:txBody>
      </p:sp>
      <p:sp>
        <p:nvSpPr>
          <p:cNvPr id="25" name="Slide Number Placeholder 0"/>
          <p:cNvSpPr>
            <a:spLocks noGrp="1"/>
          </p:cNvSpPr>
          <p:nvPr>
            <p:ph type="sldNum" sz="quarter" idx="4294967295"/>
          </p:nvPr>
        </p:nvSpPr>
        <p:spPr>
          <a:xfrm>
            <a:off x="11265408" y="6565392"/>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9CA3AF"/>
                </a:solidFill>
                <a:latin typeface="Arimo"/>
                <a:ea typeface="Arimo"/>
                <a:cs typeface="Arim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0744200" y="329184"/>
            <a:ext cx="941832" cy="292608"/>
          </a:xfrm>
          <a:prstGeom prst="roundRect">
            <a:avLst>
              <a:gd name="adj" fmla="val 18750"/>
            </a:avLst>
          </a:prstGeom>
          <a:solidFill>
            <a:srgbClr val="F3F4F6"/>
          </a:solidFill>
          <a:ln w="7620">
            <a:solidFill>
              <a:srgbClr val="D1D5DB"/>
            </a:solidFill>
            <a:prstDash val="solid"/>
          </a:ln>
        </p:spPr>
        <p:txBody>
          <a:bodyPr/>
          <a:p/>
        </p:txBody>
      </p:sp>
      <p:sp>
        <p:nvSpPr>
          <p:cNvPr id="3" name="Text 1"/>
          <p:cNvSpPr/>
          <p:nvPr/>
        </p:nvSpPr>
        <p:spPr>
          <a:xfrm>
            <a:off x="10762488" y="361188"/>
            <a:ext cx="905256" cy="173736"/>
          </a:xfrm>
          <a:prstGeom prst="rect">
            <a:avLst/>
          </a:prstGeom>
          <a:noFill/>
          <a:ln/>
        </p:spPr>
        <p:txBody>
          <a:bodyPr wrap="square" lIns="0" tIns="0" rIns="0" bIns="0" rtlCol="0" anchor="ctr">
            <a:normAutofit/>
          </a:bodyPr>
          <a:lstStyle/>
          <a:p>
            <a:r>
              <a:t>0:18-0:40</a:t>
            </a:r>
          </a:p>
        </p:txBody>
      </p:sp>
      <p:sp>
        <p:nvSpPr>
          <p:cNvPr id="4" name="Text 2"/>
          <p:cNvSpPr/>
          <p:nvPr/>
        </p:nvSpPr>
        <p:spPr>
          <a:xfrm>
            <a:off x="502920" y="329184"/>
            <a:ext cx="10012680" cy="502920"/>
          </a:xfrm>
          <a:prstGeom prst="rect">
            <a:avLst/>
          </a:prstGeom>
          <a:noFill/>
          <a:ln/>
        </p:spPr>
        <p:txBody>
          <a:bodyPr wrap="square" lIns="0" tIns="0" rIns="0" bIns="0" rtlCol="0" anchor="ctr">
            <a:normAutofit/>
          </a:bodyPr>
          <a:lstStyle/>
          <a:p>
            <a:pPr algn="l" indent="0" marL="0">
              <a:buNone/>
            </a:pPr>
            <a:r>
              <a:rPr lang="en-US" sz="2700" b="1" dirty="0">
                <a:solidFill>
                  <a:srgbClr val="111827"/>
                </a:solidFill>
                <a:latin typeface="Arimo" pitchFamily="34" charset="0"/>
                <a:ea typeface="Arimo" pitchFamily="34" charset="-122"/>
                <a:cs typeface="Arimo" pitchFamily="34" charset="-120"/>
              </a:rPr>
              <a:t>Two gates before any drug test</a:t>
            </a:r>
            <a:endParaRPr lang="en-US" sz="2700" dirty="0"/>
          </a:p>
        </p:txBody>
      </p:sp>
      <p:sp>
        <p:nvSpPr>
          <p:cNvPr id="5" name="Text 3"/>
          <p:cNvSpPr/>
          <p:nvPr/>
        </p:nvSpPr>
        <p:spPr>
          <a:xfrm>
            <a:off x="502920" y="841248"/>
            <a:ext cx="10012680" cy="310896"/>
          </a:xfrm>
          <a:prstGeom prst="rect">
            <a:avLst/>
          </a:prstGeom>
          <a:noFill/>
          <a:ln/>
        </p:spPr>
        <p:txBody>
          <a:bodyPr wrap="square" lIns="0" tIns="0" rIns="0" bIns="0" rtlCol="0" anchor="ctr">
            <a:normAutofit/>
          </a:bodyPr>
          <a:lstStyle/>
          <a:p>
            <a:pPr algn="l" indent="0" marL="0">
              <a:buNone/>
            </a:pPr>
            <a:r>
              <a:rPr lang="en-US" sz="1350" dirty="0">
                <a:solidFill>
                  <a:srgbClr val="4B5563"/>
                </a:solidFill>
                <a:latin typeface="Arimo" pitchFamily="34" charset="0"/>
                <a:ea typeface="Arimo" pitchFamily="34" charset="-122"/>
                <a:cs typeface="Arimo" pitchFamily="34" charset="-120"/>
              </a:rPr>
              <a:t>Phase first. Then measure N1002K function at matched BUBR1 abundance.</a:t>
            </a:r>
            <a:endParaRPr lang="en-US" sz="1350" dirty="0"/>
          </a:p>
        </p:txBody>
      </p:sp>
      <p:sp>
        <p:nvSpPr>
          <p:cNvPr id="6" name="Shape 4"/>
          <p:cNvSpPr/>
          <p:nvPr/>
        </p:nvSpPr>
        <p:spPr>
          <a:xfrm>
            <a:off x="594360" y="1417320"/>
            <a:ext cx="4434840" cy="4343400"/>
          </a:xfrm>
          <a:prstGeom prst="roundRect">
            <a:avLst>
              <a:gd name="adj" fmla="val 1684"/>
            </a:avLst>
          </a:prstGeom>
          <a:solidFill>
            <a:srgbClr val="FFFFFF"/>
          </a:solidFill>
          <a:ln w="12700">
            <a:solidFill>
              <a:srgbClr val="D1D5DB"/>
            </a:solidFill>
            <a:prstDash val="solid"/>
          </a:ln>
        </p:spPr>
        <p:txBody>
          <a:bodyPr/>
          <a:p/>
        </p:txBody>
      </p:sp>
      <p:sp>
        <p:nvSpPr>
          <p:cNvPr id="7" name="Shape 5"/>
          <p:cNvSpPr/>
          <p:nvPr/>
        </p:nvSpPr>
        <p:spPr>
          <a:xfrm>
            <a:off x="868680" y="1700784"/>
            <a:ext cx="1024128" cy="329184"/>
          </a:xfrm>
          <a:prstGeom prst="roundRect">
            <a:avLst>
              <a:gd name="adj" fmla="val 33333"/>
            </a:avLst>
          </a:prstGeom>
          <a:solidFill>
            <a:srgbClr val="EFF6FF"/>
          </a:solidFill>
          <a:ln w="12700">
            <a:solidFill>
              <a:srgbClr val="EFF6FF"/>
            </a:solidFill>
            <a:prstDash val="solid"/>
          </a:ln>
        </p:spPr>
        <p:txBody>
          <a:bodyPr/>
          <a:p/>
        </p:txBody>
      </p:sp>
      <p:sp>
        <p:nvSpPr>
          <p:cNvPr id="8" name="Text 6"/>
          <p:cNvSpPr/>
          <p:nvPr/>
        </p:nvSpPr>
        <p:spPr>
          <a:xfrm>
            <a:off x="941832" y="1751076"/>
            <a:ext cx="877824" cy="201168"/>
          </a:xfrm>
          <a:prstGeom prst="rect">
            <a:avLst/>
          </a:prstGeom>
          <a:noFill/>
          <a:ln/>
        </p:spPr>
        <p:txBody>
          <a:bodyPr wrap="square" lIns="0" tIns="0" rIns="0" bIns="0" rtlCol="0" anchor="ctr">
            <a:normAutofit/>
          </a:bodyPr>
          <a:lstStyle/>
          <a:p>
            <a:pPr algn="ctr" indent="0" marL="0">
              <a:buNone/>
            </a:pPr>
            <a:r>
              <a:rPr lang="en-US" sz="1050" b="1" dirty="0">
                <a:solidFill>
                  <a:srgbClr val="2563EB"/>
                </a:solidFill>
                <a:latin typeface="Arimo" pitchFamily="34" charset="0"/>
                <a:ea typeface="Arimo" pitchFamily="34" charset="-122"/>
                <a:cs typeface="Arimo" pitchFamily="34" charset="-120"/>
              </a:rPr>
              <a:t>GATE 1</a:t>
            </a:r>
            <a:endParaRPr lang="en-US" sz="1050" dirty="0"/>
          </a:p>
        </p:txBody>
      </p:sp>
      <p:sp>
        <p:nvSpPr>
          <p:cNvPr id="9" name="Text 7"/>
          <p:cNvSpPr/>
          <p:nvPr/>
        </p:nvSpPr>
        <p:spPr>
          <a:xfrm>
            <a:off x="868680" y="2176272"/>
            <a:ext cx="2011680" cy="420624"/>
          </a:xfrm>
          <a:prstGeom prst="rect">
            <a:avLst/>
          </a:prstGeom>
          <a:noFill/>
          <a:ln/>
        </p:spPr>
        <p:txBody>
          <a:bodyPr wrap="square" lIns="0" tIns="0" rIns="0" bIns="0" rtlCol="0" anchor="ctr">
            <a:normAutofit/>
          </a:bodyPr>
          <a:lstStyle/>
          <a:p>
            <a:pPr algn="l" indent="0" marL="0">
              <a:buNone/>
            </a:pPr>
            <a:r>
              <a:rPr lang="en-US" sz="2800" b="1" dirty="0">
                <a:solidFill>
                  <a:srgbClr val="111827"/>
                </a:solidFill>
                <a:latin typeface="Arimo" pitchFamily="34" charset="0"/>
                <a:ea typeface="Arimo" pitchFamily="34" charset="-122"/>
                <a:cs typeface="Arimo" pitchFamily="34" charset="-120"/>
              </a:rPr>
              <a:t>Phase</a:t>
            </a:r>
            <a:endParaRPr lang="en-US" sz="2800" dirty="0"/>
          </a:p>
        </p:txBody>
      </p:sp>
      <p:sp>
        <p:nvSpPr>
          <p:cNvPr id="10" name="Text 8"/>
          <p:cNvSpPr/>
          <p:nvPr/>
        </p:nvSpPr>
        <p:spPr>
          <a:xfrm>
            <a:off x="868680" y="2770632"/>
            <a:ext cx="3566160" cy="384048"/>
          </a:xfrm>
          <a:prstGeom prst="rect">
            <a:avLst/>
          </a:prstGeom>
          <a:noFill/>
          <a:ln/>
        </p:spPr>
        <p:txBody>
          <a:bodyPr wrap="square" lIns="0" tIns="0" rIns="0" bIns="0" rtlCol="0" anchor="ctr">
            <a:normAutofit/>
          </a:bodyPr>
          <a:lstStyle/>
          <a:p>
            <a:r>
              <a:t>10,911 bp between loci</a:t>
            </a:r>
          </a:p>
          <a:p>
            <a:r>
              <a:t>Parental / trio genotyping</a:t>
            </a:r>
          </a:p>
        </p:txBody>
      </p:sp>
      <p:sp>
        <p:nvSpPr>
          <p:cNvPr id="11" name="Shape 9"/>
          <p:cNvSpPr/>
          <p:nvPr/>
        </p:nvSpPr>
        <p:spPr>
          <a:xfrm>
            <a:off x="868680" y="3429000"/>
            <a:ext cx="1600200" cy="941832"/>
          </a:xfrm>
          <a:prstGeom prst="roundRect">
            <a:avLst>
              <a:gd name="adj" fmla="val 7767"/>
            </a:avLst>
          </a:prstGeom>
          <a:solidFill>
            <a:srgbClr val="ECFDF5"/>
          </a:solidFill>
          <a:ln w="12700">
            <a:solidFill>
              <a:srgbClr val="A7F3D0"/>
            </a:solidFill>
            <a:prstDash val="solid"/>
          </a:ln>
        </p:spPr>
      </p:sp>
      <p:sp>
        <p:nvSpPr>
          <p:cNvPr id="12" name="Text 10"/>
          <p:cNvSpPr/>
          <p:nvPr/>
        </p:nvSpPr>
        <p:spPr>
          <a:xfrm>
            <a:off x="969264" y="3602736"/>
            <a:ext cx="1399032" cy="256032"/>
          </a:xfrm>
          <a:prstGeom prst="rect">
            <a:avLst/>
          </a:prstGeom>
          <a:noFill/>
          <a:ln/>
        </p:spPr>
        <p:txBody>
          <a:bodyPr wrap="square" lIns="0" tIns="0" rIns="0" bIns="0" rtlCol="0" anchor="ctr">
            <a:normAutofit/>
          </a:bodyPr>
          <a:lstStyle/>
          <a:p>
            <a:pPr algn="ctr" indent="0" marL="0">
              <a:buNone/>
            </a:pPr>
            <a:r>
              <a:rPr lang="en-US" sz="1800" b="1" dirty="0">
                <a:solidFill>
                  <a:srgbClr val="0F766E"/>
                </a:solidFill>
                <a:latin typeface="Arimo" pitchFamily="34" charset="0"/>
                <a:ea typeface="Arimo" pitchFamily="34" charset="-122"/>
                <a:cs typeface="Arimo" pitchFamily="34" charset="-120"/>
              </a:rPr>
              <a:t>TRANS</a:t>
            </a:r>
            <a:endParaRPr lang="en-US" sz="1800" dirty="0"/>
          </a:p>
        </p:txBody>
      </p:sp>
      <p:sp>
        <p:nvSpPr>
          <p:cNvPr id="13" name="Text 11"/>
          <p:cNvSpPr/>
          <p:nvPr/>
        </p:nvSpPr>
        <p:spPr>
          <a:xfrm>
            <a:off x="914400" y="3886200"/>
            <a:ext cx="1508760" cy="256032"/>
          </a:xfrm>
          <a:prstGeom prst="rect">
            <a:avLst/>
          </a:prstGeom>
          <a:noFill/>
          <a:ln/>
        </p:spPr>
        <p:txBody>
          <a:bodyPr wrap="square" lIns="0" tIns="0" rIns="0" bIns="0" rtlCol="0" anchor="ctr">
            <a:normAutofit/>
          </a:bodyPr>
          <a:lstStyle/>
          <a:p>
            <a:pPr algn="ctr" indent="0" marL="0">
              <a:buNone/>
            </a:pPr>
            <a:r>
              <a:rPr lang="en-US" sz="1150" dirty="0">
                <a:solidFill>
                  <a:srgbClr val="4B5563"/>
                </a:solidFill>
                <a:latin typeface="Arimo" pitchFamily="34" charset="0"/>
                <a:ea typeface="Arimo" pitchFamily="34" charset="-122"/>
                <a:cs typeface="Arimo" pitchFamily="34" charset="-120"/>
              </a:rPr>
              <a:t>supports recessive model</a:t>
            </a:r>
            <a:endParaRPr lang="en-US" sz="1150" dirty="0"/>
          </a:p>
        </p:txBody>
      </p:sp>
      <p:sp>
        <p:nvSpPr>
          <p:cNvPr id="14" name="Shape 12"/>
          <p:cNvSpPr/>
          <p:nvPr/>
        </p:nvSpPr>
        <p:spPr>
          <a:xfrm>
            <a:off x="2770632" y="3429000"/>
            <a:ext cx="1600200" cy="941832"/>
          </a:xfrm>
          <a:prstGeom prst="roundRect">
            <a:avLst>
              <a:gd name="adj" fmla="val 7767"/>
            </a:avLst>
          </a:prstGeom>
          <a:solidFill>
            <a:srgbClr val="FEF2F2"/>
          </a:solidFill>
          <a:ln w="12700">
            <a:solidFill>
              <a:srgbClr val="FECACA"/>
            </a:solidFill>
            <a:prstDash val="solid"/>
          </a:ln>
        </p:spPr>
      </p:sp>
      <p:sp>
        <p:nvSpPr>
          <p:cNvPr id="15" name="Text 13"/>
          <p:cNvSpPr/>
          <p:nvPr/>
        </p:nvSpPr>
        <p:spPr>
          <a:xfrm>
            <a:off x="2871216" y="3602736"/>
            <a:ext cx="1399032" cy="256032"/>
          </a:xfrm>
          <a:prstGeom prst="rect">
            <a:avLst/>
          </a:prstGeom>
          <a:noFill/>
          <a:ln/>
        </p:spPr>
        <p:txBody>
          <a:bodyPr wrap="square" lIns="0" tIns="0" rIns="0" bIns="0" rtlCol="0" anchor="ctr">
            <a:normAutofit/>
          </a:bodyPr>
          <a:lstStyle/>
          <a:p>
            <a:pPr algn="ctr" indent="0" marL="0">
              <a:buNone/>
            </a:pPr>
            <a:r>
              <a:rPr lang="en-US" sz="1800" b="1" dirty="0">
                <a:solidFill>
                  <a:srgbClr val="B91C1C"/>
                </a:solidFill>
                <a:latin typeface="Arimo" pitchFamily="34" charset="0"/>
                <a:ea typeface="Arimo" pitchFamily="34" charset="-122"/>
                <a:cs typeface="Arimo" pitchFamily="34" charset="-120"/>
              </a:rPr>
              <a:t>CIS</a:t>
            </a:r>
            <a:endParaRPr lang="en-US" sz="1800" dirty="0"/>
          </a:p>
        </p:txBody>
      </p:sp>
      <p:sp>
        <p:nvSpPr>
          <p:cNvPr id="16" name="Text 14"/>
          <p:cNvSpPr/>
          <p:nvPr/>
        </p:nvSpPr>
        <p:spPr>
          <a:xfrm>
            <a:off x="2825496" y="3886200"/>
            <a:ext cx="1490472" cy="256032"/>
          </a:xfrm>
          <a:prstGeom prst="rect">
            <a:avLst/>
          </a:prstGeom>
          <a:noFill/>
          <a:ln/>
        </p:spPr>
        <p:txBody>
          <a:bodyPr wrap="square" lIns="0" tIns="0" rIns="0" bIns="0" rtlCol="0" anchor="ctr">
            <a:normAutofit/>
          </a:bodyPr>
          <a:lstStyle/>
          <a:p>
            <a:pPr algn="ctr" indent="0" marL="0">
              <a:buNone/>
            </a:pPr>
            <a:r>
              <a:rPr lang="en-US" sz="1150" dirty="0">
                <a:solidFill>
                  <a:srgbClr val="4B5563"/>
                </a:solidFill>
                <a:latin typeface="Arimo" pitchFamily="34" charset="0"/>
                <a:ea typeface="Arimo" pitchFamily="34" charset="-122"/>
                <a:cs typeface="Arimo" pitchFamily="34" charset="-120"/>
              </a:rPr>
              <a:t>reopen allele search</a:t>
            </a:r>
            <a:endParaRPr lang="en-US" sz="1150" dirty="0"/>
          </a:p>
        </p:txBody>
      </p:sp>
      <p:sp>
        <p:nvSpPr>
          <p:cNvPr id="17" name="Text 15"/>
          <p:cNvSpPr/>
          <p:nvPr/>
        </p:nvSpPr>
        <p:spPr>
          <a:xfrm>
            <a:off x="868680" y="4919472"/>
            <a:ext cx="3611880" cy="475488"/>
          </a:xfrm>
          <a:prstGeom prst="rect">
            <a:avLst/>
          </a:prstGeom>
          <a:noFill/>
          <a:ln/>
        </p:spPr>
        <p:txBody>
          <a:bodyPr wrap="square" lIns="0" tIns="0" rIns="0" bIns="0" rtlCol="0" anchor="ctr">
            <a:normAutofit/>
          </a:bodyPr>
          <a:lstStyle/>
          <a:p>
            <a:pPr algn="l" indent="0" marL="0">
              <a:buNone/>
            </a:pPr>
            <a:r>
              <a:rPr lang="en-US" sz="1600" i="1" dirty="0">
                <a:solidFill>
                  <a:srgbClr val="4B5563"/>
                </a:solidFill>
                <a:latin typeface="Arimo" pitchFamily="34" charset="0"/>
                <a:ea typeface="Arimo" pitchFamily="34" charset="-122"/>
                <a:cs typeface="Arimo" pitchFamily="34" charset="-120"/>
              </a:rPr>
              <a:t>No therapeutic branch before phase is resolved.</a:t>
            </a:r>
            <a:endParaRPr lang="en-US" sz="1600" dirty="0"/>
          </a:p>
        </p:txBody>
      </p:sp>
      <p:sp>
        <p:nvSpPr>
          <p:cNvPr id="18" name="Shape 16"/>
          <p:cNvSpPr/>
          <p:nvPr/>
        </p:nvSpPr>
        <p:spPr>
          <a:xfrm>
            <a:off x="5138928" y="3547872"/>
            <a:ext cx="777240" cy="0"/>
          </a:xfrm>
          <a:prstGeom prst="line">
            <a:avLst/>
          </a:prstGeom>
          <a:noFill/>
          <a:ln w="27940">
            <a:solidFill>
              <a:srgbClr val="64748B"/>
            </a:solidFill>
            <a:prstDash val="solid"/>
            <a:tailEnd type="triangle"/>
          </a:ln>
        </p:spPr>
      </p:sp>
      <p:sp>
        <p:nvSpPr>
          <p:cNvPr id="19" name="Shape 17"/>
          <p:cNvSpPr/>
          <p:nvPr/>
        </p:nvSpPr>
        <p:spPr>
          <a:xfrm>
            <a:off x="5989320" y="1417320"/>
            <a:ext cx="5623560" cy="4343400"/>
          </a:xfrm>
          <a:prstGeom prst="roundRect">
            <a:avLst>
              <a:gd name="adj" fmla="val 1684"/>
            </a:avLst>
          </a:prstGeom>
          <a:solidFill>
            <a:srgbClr val="EFF6FF"/>
          </a:solidFill>
          <a:ln w="12700">
            <a:solidFill>
              <a:srgbClr val="BFDBFE"/>
            </a:solidFill>
            <a:prstDash val="solid"/>
          </a:ln>
        </p:spPr>
      </p:sp>
      <p:sp>
        <p:nvSpPr>
          <p:cNvPr id="20" name="Shape 18"/>
          <p:cNvSpPr/>
          <p:nvPr/>
        </p:nvSpPr>
        <p:spPr>
          <a:xfrm>
            <a:off x="6309360" y="1700784"/>
            <a:ext cx="1024128" cy="329184"/>
          </a:xfrm>
          <a:prstGeom prst="roundRect">
            <a:avLst>
              <a:gd name="adj" fmla="val 33333"/>
            </a:avLst>
          </a:prstGeom>
          <a:solidFill>
            <a:srgbClr val="FFFFFF"/>
          </a:solidFill>
          <a:ln w="12700">
            <a:solidFill>
              <a:srgbClr val="FFFFFF"/>
            </a:solidFill>
            <a:prstDash val="solid"/>
          </a:ln>
        </p:spPr>
      </p:sp>
      <p:sp>
        <p:nvSpPr>
          <p:cNvPr id="21" name="Text 19"/>
          <p:cNvSpPr/>
          <p:nvPr/>
        </p:nvSpPr>
        <p:spPr>
          <a:xfrm>
            <a:off x="6382512" y="1751076"/>
            <a:ext cx="877824" cy="201168"/>
          </a:xfrm>
          <a:prstGeom prst="rect">
            <a:avLst/>
          </a:prstGeom>
          <a:noFill/>
          <a:ln/>
        </p:spPr>
        <p:txBody>
          <a:bodyPr wrap="square" lIns="0" tIns="0" rIns="0" bIns="0" rtlCol="0" anchor="ctr">
            <a:normAutofit/>
          </a:bodyPr>
          <a:lstStyle/>
          <a:p>
            <a:pPr algn="ctr" indent="0" marL="0">
              <a:buNone/>
            </a:pPr>
            <a:r>
              <a:rPr lang="en-US" sz="1050" b="1" dirty="0">
                <a:solidFill>
                  <a:srgbClr val="2563EB"/>
                </a:solidFill>
                <a:latin typeface="Arimo" pitchFamily="34" charset="0"/>
                <a:ea typeface="Arimo" pitchFamily="34" charset="-122"/>
                <a:cs typeface="Arimo" pitchFamily="34" charset="-120"/>
              </a:rPr>
              <a:t>GATE 2</a:t>
            </a:r>
            <a:endParaRPr lang="en-US" sz="1050" dirty="0"/>
          </a:p>
        </p:txBody>
      </p:sp>
      <p:sp>
        <p:nvSpPr>
          <p:cNvPr id="22" name="Text 20"/>
          <p:cNvSpPr/>
          <p:nvPr/>
        </p:nvSpPr>
        <p:spPr>
          <a:xfrm>
            <a:off x="6309360" y="2176272"/>
            <a:ext cx="4389120" cy="420624"/>
          </a:xfrm>
          <a:prstGeom prst="rect">
            <a:avLst/>
          </a:prstGeom>
          <a:noFill/>
          <a:ln/>
        </p:spPr>
        <p:txBody>
          <a:bodyPr wrap="square" lIns="0" tIns="0" rIns="0" bIns="0" rtlCol="0" anchor="ctr">
            <a:normAutofit/>
          </a:bodyPr>
          <a:lstStyle/>
          <a:p>
            <a:pPr algn="l" indent="0" marL="0">
              <a:buNone/>
            </a:pPr>
            <a:r>
              <a:rPr lang="en-US" sz="2800" b="1" dirty="0">
                <a:solidFill>
                  <a:srgbClr val="111827"/>
                </a:solidFill>
                <a:latin typeface="Arimo" pitchFamily="34" charset="0"/>
                <a:ea typeface="Arimo" pitchFamily="34" charset="-122"/>
                <a:cs typeface="Arimo" pitchFamily="34" charset="-120"/>
              </a:rPr>
              <a:t>Abundance-matched F0</a:t>
            </a:r>
            <a:endParaRPr lang="en-US" sz="2800" dirty="0"/>
          </a:p>
        </p:txBody>
      </p:sp>
      <p:sp>
        <p:nvSpPr>
          <p:cNvPr id="23" name="Text 21"/>
          <p:cNvSpPr/>
          <p:nvPr/>
        </p:nvSpPr>
        <p:spPr>
          <a:xfrm>
            <a:off x="6309360" y="2743200"/>
            <a:ext cx="4800600" cy="640080"/>
          </a:xfrm>
          <a:prstGeom prst="rect">
            <a:avLst/>
          </a:prstGeom>
          <a:noFill/>
          <a:ln/>
        </p:spPr>
        <p:txBody>
          <a:bodyPr wrap="square" lIns="0" tIns="0" rIns="0" bIns="0" rtlCol="0" anchor="ctr">
            <a:normAutofit/>
          </a:bodyPr>
          <a:lstStyle/>
          <a:p>
            <a:pPr algn="l" indent="0" marL="0">
              <a:buNone/>
            </a:pPr>
            <a:r>
              <a:rPr lang="en-US" sz="1900" b="1" dirty="0">
                <a:solidFill>
                  <a:srgbClr val="111827"/>
                </a:solidFill>
                <a:latin typeface="Arimo" pitchFamily="34" charset="0"/>
                <a:ea typeface="Arimo" pitchFamily="34" charset="-122"/>
                <a:cs typeface="Arimo" pitchFamily="34" charset="-120"/>
              </a:rPr>
              <a:t>Compare WT vs N1002K at the same measured BUBR1 abundance</a:t>
            </a:r>
            <a:endParaRPr lang="en-US" sz="1900" dirty="0"/>
          </a:p>
        </p:txBody>
      </p:sp>
      <p:sp>
        <p:nvSpPr>
          <p:cNvPr id="24" name="Shape 22"/>
          <p:cNvSpPr/>
          <p:nvPr/>
        </p:nvSpPr>
        <p:spPr>
          <a:xfrm>
            <a:off x="6446520" y="3703320"/>
            <a:ext cx="475488" cy="475488"/>
          </a:xfrm>
          <a:prstGeom prst="ellipse">
            <a:avLst/>
          </a:prstGeom>
          <a:solidFill>
            <a:srgbClr val="FFFFFF"/>
          </a:solidFill>
          <a:ln w="15240">
            <a:solidFill>
              <a:srgbClr val="2563EB"/>
            </a:solidFill>
            <a:prstDash val="solid"/>
          </a:ln>
        </p:spPr>
      </p:sp>
      <p:sp>
        <p:nvSpPr>
          <p:cNvPr id="25" name="Text 23"/>
          <p:cNvSpPr/>
          <p:nvPr/>
        </p:nvSpPr>
        <p:spPr>
          <a:xfrm>
            <a:off x="6373368" y="4261104"/>
            <a:ext cx="621792" cy="228600"/>
          </a:xfrm>
          <a:prstGeom prst="rect">
            <a:avLst/>
          </a:prstGeom>
          <a:noFill/>
          <a:ln/>
        </p:spPr>
        <p:txBody>
          <a:bodyPr wrap="square" lIns="0" tIns="0" rIns="0" bIns="0" rtlCol="0" anchor="ctr">
            <a:normAutofit/>
          </a:bodyPr>
          <a:lstStyle/>
          <a:p>
            <a:pPr algn="ctr" indent="0" marL="0">
              <a:buNone/>
            </a:pPr>
            <a:r>
              <a:rPr lang="en-US" sz="1050" dirty="0">
                <a:solidFill>
                  <a:srgbClr val="4B5563"/>
                </a:solidFill>
                <a:latin typeface="Arimo" pitchFamily="34" charset="0"/>
                <a:ea typeface="Arimo" pitchFamily="34" charset="-122"/>
                <a:cs typeface="Arimo" pitchFamily="34" charset="-120"/>
              </a:rPr>
              <a:t>10%</a:t>
            </a:r>
            <a:endParaRPr lang="en-US" sz="1050" dirty="0"/>
          </a:p>
        </p:txBody>
      </p:sp>
      <p:sp>
        <p:nvSpPr>
          <p:cNvPr id="26" name="Shape 24"/>
          <p:cNvSpPr/>
          <p:nvPr/>
        </p:nvSpPr>
        <p:spPr>
          <a:xfrm>
            <a:off x="6922008" y="3941064"/>
            <a:ext cx="356616" cy="0"/>
          </a:xfrm>
          <a:prstGeom prst="line">
            <a:avLst/>
          </a:prstGeom>
          <a:noFill/>
          <a:ln w="20320">
            <a:solidFill>
              <a:srgbClr val="93C5FD"/>
            </a:solidFill>
            <a:prstDash val="solid"/>
          </a:ln>
        </p:spPr>
      </p:sp>
      <p:sp>
        <p:nvSpPr>
          <p:cNvPr id="27" name="Shape 25"/>
          <p:cNvSpPr/>
          <p:nvPr/>
        </p:nvSpPr>
        <p:spPr>
          <a:xfrm>
            <a:off x="7278624" y="3703320"/>
            <a:ext cx="475488" cy="475488"/>
          </a:xfrm>
          <a:prstGeom prst="ellipse">
            <a:avLst/>
          </a:prstGeom>
          <a:solidFill>
            <a:srgbClr val="FFFFFF"/>
          </a:solidFill>
          <a:ln w="15240">
            <a:solidFill>
              <a:srgbClr val="2563EB"/>
            </a:solidFill>
            <a:prstDash val="solid"/>
          </a:ln>
        </p:spPr>
      </p:sp>
      <p:sp>
        <p:nvSpPr>
          <p:cNvPr id="28" name="Text 26"/>
          <p:cNvSpPr/>
          <p:nvPr/>
        </p:nvSpPr>
        <p:spPr>
          <a:xfrm>
            <a:off x="7205472" y="4261104"/>
            <a:ext cx="621792" cy="228600"/>
          </a:xfrm>
          <a:prstGeom prst="rect">
            <a:avLst/>
          </a:prstGeom>
          <a:noFill/>
          <a:ln/>
        </p:spPr>
        <p:txBody>
          <a:bodyPr wrap="square" lIns="0" tIns="0" rIns="0" bIns="0" rtlCol="0" anchor="ctr">
            <a:normAutofit/>
          </a:bodyPr>
          <a:lstStyle/>
          <a:p>
            <a:pPr algn="ctr" indent="0" marL="0">
              <a:buNone/>
            </a:pPr>
            <a:r>
              <a:rPr lang="en-US" sz="1050" dirty="0">
                <a:solidFill>
                  <a:srgbClr val="4B5563"/>
                </a:solidFill>
                <a:latin typeface="Arimo" pitchFamily="34" charset="0"/>
                <a:ea typeface="Arimo" pitchFamily="34" charset="-122"/>
                <a:cs typeface="Arimo" pitchFamily="34" charset="-120"/>
              </a:rPr>
              <a:t>30%</a:t>
            </a:r>
            <a:endParaRPr lang="en-US" sz="1050" dirty="0"/>
          </a:p>
        </p:txBody>
      </p:sp>
      <p:sp>
        <p:nvSpPr>
          <p:cNvPr id="29" name="Shape 27"/>
          <p:cNvSpPr/>
          <p:nvPr/>
        </p:nvSpPr>
        <p:spPr>
          <a:xfrm>
            <a:off x="7754112" y="3941064"/>
            <a:ext cx="356616" cy="0"/>
          </a:xfrm>
          <a:prstGeom prst="line">
            <a:avLst/>
          </a:prstGeom>
          <a:noFill/>
          <a:ln w="20320">
            <a:solidFill>
              <a:srgbClr val="93C5FD"/>
            </a:solidFill>
            <a:prstDash val="solid"/>
          </a:ln>
        </p:spPr>
      </p:sp>
      <p:sp>
        <p:nvSpPr>
          <p:cNvPr id="30" name="Shape 28"/>
          <p:cNvSpPr/>
          <p:nvPr/>
        </p:nvSpPr>
        <p:spPr>
          <a:xfrm>
            <a:off x="8110728" y="3703320"/>
            <a:ext cx="475488" cy="475488"/>
          </a:xfrm>
          <a:prstGeom prst="ellipse">
            <a:avLst/>
          </a:prstGeom>
          <a:solidFill>
            <a:srgbClr val="FFFFFF"/>
          </a:solidFill>
          <a:ln w="15240">
            <a:solidFill>
              <a:srgbClr val="2563EB"/>
            </a:solidFill>
            <a:prstDash val="solid"/>
          </a:ln>
        </p:spPr>
      </p:sp>
      <p:sp>
        <p:nvSpPr>
          <p:cNvPr id="31" name="Text 29"/>
          <p:cNvSpPr/>
          <p:nvPr/>
        </p:nvSpPr>
        <p:spPr>
          <a:xfrm>
            <a:off x="8037576" y="4261104"/>
            <a:ext cx="621792" cy="228600"/>
          </a:xfrm>
          <a:prstGeom prst="rect">
            <a:avLst/>
          </a:prstGeom>
          <a:noFill/>
          <a:ln/>
        </p:spPr>
        <p:txBody>
          <a:bodyPr wrap="square" lIns="0" tIns="0" rIns="0" bIns="0" rtlCol="0" anchor="ctr">
            <a:normAutofit/>
          </a:bodyPr>
          <a:lstStyle/>
          <a:p>
            <a:pPr algn="ctr" indent="0" marL="0">
              <a:buNone/>
            </a:pPr>
            <a:r>
              <a:rPr lang="en-US" sz="1050" dirty="0">
                <a:solidFill>
                  <a:srgbClr val="4B5563"/>
                </a:solidFill>
                <a:latin typeface="Arimo" pitchFamily="34" charset="0"/>
                <a:ea typeface="Arimo" pitchFamily="34" charset="-122"/>
                <a:cs typeface="Arimo" pitchFamily="34" charset="-120"/>
              </a:rPr>
              <a:t>50%</a:t>
            </a:r>
            <a:endParaRPr lang="en-US" sz="1050" dirty="0"/>
          </a:p>
        </p:txBody>
      </p:sp>
      <p:sp>
        <p:nvSpPr>
          <p:cNvPr id="32" name="Shape 30"/>
          <p:cNvSpPr/>
          <p:nvPr/>
        </p:nvSpPr>
        <p:spPr>
          <a:xfrm>
            <a:off x="8586216" y="3941064"/>
            <a:ext cx="356616" cy="0"/>
          </a:xfrm>
          <a:prstGeom prst="line">
            <a:avLst/>
          </a:prstGeom>
          <a:noFill/>
          <a:ln w="20320">
            <a:solidFill>
              <a:srgbClr val="93C5FD"/>
            </a:solidFill>
            <a:prstDash val="solid"/>
          </a:ln>
        </p:spPr>
      </p:sp>
      <p:sp>
        <p:nvSpPr>
          <p:cNvPr id="33" name="Shape 31"/>
          <p:cNvSpPr/>
          <p:nvPr/>
        </p:nvSpPr>
        <p:spPr>
          <a:xfrm>
            <a:off x="8942832" y="3703320"/>
            <a:ext cx="475488" cy="475488"/>
          </a:xfrm>
          <a:prstGeom prst="ellipse">
            <a:avLst/>
          </a:prstGeom>
          <a:solidFill>
            <a:srgbClr val="FFFFFF"/>
          </a:solidFill>
          <a:ln w="15240">
            <a:solidFill>
              <a:srgbClr val="2563EB"/>
            </a:solidFill>
            <a:prstDash val="solid"/>
          </a:ln>
        </p:spPr>
      </p:sp>
      <p:sp>
        <p:nvSpPr>
          <p:cNvPr id="34" name="Text 32"/>
          <p:cNvSpPr/>
          <p:nvPr/>
        </p:nvSpPr>
        <p:spPr>
          <a:xfrm>
            <a:off x="8869680" y="4261104"/>
            <a:ext cx="621792" cy="228600"/>
          </a:xfrm>
          <a:prstGeom prst="rect">
            <a:avLst/>
          </a:prstGeom>
          <a:noFill/>
          <a:ln/>
        </p:spPr>
        <p:txBody>
          <a:bodyPr wrap="square" lIns="0" tIns="0" rIns="0" bIns="0" rtlCol="0" anchor="ctr">
            <a:normAutofit/>
          </a:bodyPr>
          <a:lstStyle/>
          <a:p>
            <a:pPr algn="ctr" indent="0" marL="0">
              <a:buNone/>
            </a:pPr>
            <a:r>
              <a:rPr lang="en-US" sz="1050" dirty="0">
                <a:solidFill>
                  <a:srgbClr val="4B5563"/>
                </a:solidFill>
                <a:latin typeface="Arimo" pitchFamily="34" charset="0"/>
                <a:ea typeface="Arimo" pitchFamily="34" charset="-122"/>
                <a:cs typeface="Arimo" pitchFamily="34" charset="-120"/>
              </a:rPr>
              <a:t>75%</a:t>
            </a:r>
            <a:endParaRPr lang="en-US" sz="1050" dirty="0"/>
          </a:p>
        </p:txBody>
      </p:sp>
      <p:sp>
        <p:nvSpPr>
          <p:cNvPr id="35" name="Shape 33"/>
          <p:cNvSpPr/>
          <p:nvPr/>
        </p:nvSpPr>
        <p:spPr>
          <a:xfrm>
            <a:off x="9418320" y="3941064"/>
            <a:ext cx="356616" cy="0"/>
          </a:xfrm>
          <a:prstGeom prst="line">
            <a:avLst/>
          </a:prstGeom>
          <a:noFill/>
          <a:ln w="20320">
            <a:solidFill>
              <a:srgbClr val="93C5FD"/>
            </a:solidFill>
            <a:prstDash val="solid"/>
          </a:ln>
        </p:spPr>
      </p:sp>
      <p:sp>
        <p:nvSpPr>
          <p:cNvPr id="36" name="Shape 34"/>
          <p:cNvSpPr/>
          <p:nvPr/>
        </p:nvSpPr>
        <p:spPr>
          <a:xfrm>
            <a:off x="9774936" y="3703320"/>
            <a:ext cx="475488" cy="475488"/>
          </a:xfrm>
          <a:prstGeom prst="ellipse">
            <a:avLst/>
          </a:prstGeom>
          <a:solidFill>
            <a:srgbClr val="2563EB"/>
          </a:solidFill>
          <a:ln w="15240">
            <a:solidFill>
              <a:srgbClr val="2563EB"/>
            </a:solidFill>
            <a:prstDash val="solid"/>
          </a:ln>
        </p:spPr>
      </p:sp>
      <p:sp>
        <p:nvSpPr>
          <p:cNvPr id="37" name="Text 35"/>
          <p:cNvSpPr/>
          <p:nvPr/>
        </p:nvSpPr>
        <p:spPr>
          <a:xfrm>
            <a:off x="9701784" y="4261104"/>
            <a:ext cx="621792" cy="228600"/>
          </a:xfrm>
          <a:prstGeom prst="rect">
            <a:avLst/>
          </a:prstGeom>
          <a:noFill/>
          <a:ln/>
        </p:spPr>
        <p:txBody>
          <a:bodyPr wrap="square" lIns="0" tIns="0" rIns="0" bIns="0" rtlCol="0" anchor="ctr">
            <a:normAutofit/>
          </a:bodyPr>
          <a:lstStyle/>
          <a:p>
            <a:pPr algn="ctr" indent="0" marL="0">
              <a:buNone/>
            </a:pPr>
            <a:r>
              <a:rPr lang="en-US" sz="1050" dirty="0">
                <a:solidFill>
                  <a:srgbClr val="4B5563"/>
                </a:solidFill>
                <a:latin typeface="Arimo" pitchFamily="34" charset="0"/>
                <a:ea typeface="Arimo" pitchFamily="34" charset="-122"/>
                <a:cs typeface="Arimo" pitchFamily="34" charset="-120"/>
              </a:rPr>
              <a:t>100%</a:t>
            </a:r>
            <a:endParaRPr lang="en-US" sz="1050" dirty="0"/>
          </a:p>
        </p:txBody>
      </p:sp>
      <p:sp>
        <p:nvSpPr>
          <p:cNvPr id="38" name="Text 36"/>
          <p:cNvSpPr/>
          <p:nvPr/>
        </p:nvSpPr>
        <p:spPr>
          <a:xfrm>
            <a:off x="6309360" y="4800600"/>
            <a:ext cx="1554480" cy="256032"/>
          </a:xfrm>
          <a:prstGeom prst="rect">
            <a:avLst/>
          </a:prstGeom>
          <a:noFill/>
          <a:ln/>
        </p:spPr>
        <p:txBody>
          <a:bodyPr wrap="square" lIns="0" tIns="0" rIns="0" bIns="0" rtlCol="0" anchor="ctr">
            <a:normAutofit/>
          </a:bodyPr>
          <a:lstStyle/>
          <a:p>
            <a:pPr algn="l" indent="0" marL="0">
              <a:buNone/>
            </a:pPr>
            <a:r>
              <a:rPr lang="en-US" sz="1400" b="1" dirty="0">
                <a:solidFill>
                  <a:srgbClr val="4B5563"/>
                </a:solidFill>
                <a:latin typeface="Arimo" pitchFamily="34" charset="0"/>
                <a:ea typeface="Arimo" pitchFamily="34" charset="-122"/>
                <a:cs typeface="Arimo" pitchFamily="34" charset="-120"/>
              </a:rPr>
              <a:t>Primary endpoint</a:t>
            </a:r>
            <a:endParaRPr lang="en-US" sz="1400" dirty="0"/>
          </a:p>
        </p:txBody>
      </p:sp>
      <p:sp>
        <p:nvSpPr>
          <p:cNvPr id="39" name="Text 37"/>
          <p:cNvSpPr/>
          <p:nvPr/>
        </p:nvSpPr>
        <p:spPr>
          <a:xfrm>
            <a:off x="7882128" y="4700016"/>
            <a:ext cx="3337560" cy="475488"/>
          </a:xfrm>
          <a:prstGeom prst="rect">
            <a:avLst/>
          </a:prstGeom>
          <a:noFill/>
          <a:ln/>
        </p:spPr>
        <p:txBody>
          <a:bodyPr wrap="square" lIns="0" tIns="0" rIns="0" bIns="0" rtlCol="0" anchor="ctr">
            <a:normAutofit/>
          </a:bodyPr>
          <a:lstStyle/>
          <a:p>
            <a:pPr algn="l" indent="0" marL="0">
              <a:buNone/>
            </a:pPr>
            <a:r>
              <a:rPr lang="en-US" sz="1700" b="1" dirty="0">
                <a:solidFill>
                  <a:srgbClr val="111827"/>
                </a:solidFill>
                <a:latin typeface="Arimo" pitchFamily="34" charset="0"/>
                <a:ea typeface="Arimo" pitchFamily="34" charset="-122"/>
                <a:cs typeface="Arimo" pitchFamily="34" charset="-120"/>
              </a:rPr>
              <a:t>chromosome missegregation per completed division</a:t>
            </a:r>
            <a:endParaRPr lang="en-US" sz="1700" dirty="0"/>
          </a:p>
        </p:txBody>
      </p:sp>
      <p:sp>
        <p:nvSpPr>
          <p:cNvPr id="25" name="Slide Number Placeholder 0"/>
          <p:cNvSpPr>
            <a:spLocks noGrp="1"/>
          </p:cNvSpPr>
          <p:nvPr>
            <p:ph type="sldNum" sz="quarter" idx="4294967295"/>
          </p:nvPr>
        </p:nvSpPr>
        <p:spPr>
          <a:xfrm>
            <a:off x="11265408" y="6565392"/>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9CA3AF"/>
                </a:solidFill>
                <a:latin typeface="Arimo"/>
                <a:ea typeface="Arimo"/>
                <a:cs typeface="Arim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0744200" y="329184"/>
            <a:ext cx="941832" cy="292608"/>
          </a:xfrm>
          <a:prstGeom prst="roundRect">
            <a:avLst>
              <a:gd name="adj" fmla="val 18750"/>
            </a:avLst>
          </a:prstGeom>
          <a:solidFill>
            <a:srgbClr val="F3F4F6"/>
          </a:solidFill>
          <a:ln w="7620">
            <a:solidFill>
              <a:srgbClr val="D1D5DB"/>
            </a:solidFill>
            <a:prstDash val="solid"/>
          </a:ln>
        </p:spPr>
        <p:txBody>
          <a:bodyPr/>
          <a:p/>
        </p:txBody>
      </p:sp>
      <p:sp>
        <p:nvSpPr>
          <p:cNvPr id="3" name="Text 1"/>
          <p:cNvSpPr/>
          <p:nvPr/>
        </p:nvSpPr>
        <p:spPr>
          <a:xfrm>
            <a:off x="10762488" y="361188"/>
            <a:ext cx="905256" cy="173736"/>
          </a:xfrm>
          <a:prstGeom prst="rect">
            <a:avLst/>
          </a:prstGeom>
          <a:noFill/>
          <a:ln/>
        </p:spPr>
        <p:txBody>
          <a:bodyPr wrap="square" lIns="0" tIns="0" rIns="0" bIns="0" rtlCol="0" anchor="ctr">
            <a:normAutofit/>
          </a:bodyPr>
          <a:lstStyle/>
          <a:p>
            <a:r>
              <a:t>0:40-1:02</a:t>
            </a:r>
          </a:p>
        </p:txBody>
      </p:sp>
      <p:sp>
        <p:nvSpPr>
          <p:cNvPr id="4" name="Text 2"/>
          <p:cNvSpPr/>
          <p:nvPr/>
        </p:nvSpPr>
        <p:spPr>
          <a:xfrm>
            <a:off x="502920" y="329184"/>
            <a:ext cx="10012680" cy="502920"/>
          </a:xfrm>
          <a:prstGeom prst="rect">
            <a:avLst/>
          </a:prstGeom>
          <a:noFill/>
          <a:ln/>
        </p:spPr>
        <p:txBody>
          <a:bodyPr wrap="square" lIns="0" tIns="0" rIns="0" bIns="0" rtlCol="0" anchor="ctr">
            <a:normAutofit/>
          </a:bodyPr>
          <a:lstStyle/>
          <a:p>
            <a:pPr algn="l" indent="0" marL="0">
              <a:buNone/>
            </a:pPr>
            <a:r>
              <a:rPr lang="en-US" sz="2700" b="1" dirty="0">
                <a:solidFill>
                  <a:srgbClr val="111827"/>
                </a:solidFill>
                <a:latin typeface="Arimo" pitchFamily="34" charset="0"/>
                <a:ea typeface="Arimo" pitchFamily="34" charset="-122"/>
                <a:cs typeface="Arimo" pitchFamily="34" charset="-120"/>
              </a:rPr>
              <a:t>The mechanism decides whether repurposing continues</a:t>
            </a:r>
            <a:endParaRPr lang="en-US" sz="2700" dirty="0"/>
          </a:p>
        </p:txBody>
      </p:sp>
      <p:sp>
        <p:nvSpPr>
          <p:cNvPr id="5" name="Text 3"/>
          <p:cNvSpPr/>
          <p:nvPr/>
        </p:nvSpPr>
        <p:spPr>
          <a:xfrm>
            <a:off x="502920" y="841248"/>
            <a:ext cx="10012680" cy="310896"/>
          </a:xfrm>
          <a:prstGeom prst="rect">
            <a:avLst/>
          </a:prstGeom>
          <a:noFill/>
          <a:ln/>
        </p:spPr>
        <p:txBody>
          <a:bodyPr wrap="square" lIns="0" tIns="0" rIns="0" bIns="0" rtlCol="0" anchor="ctr">
            <a:normAutofit/>
          </a:bodyPr>
          <a:lstStyle/>
          <a:p>
            <a:pPr algn="l" indent="0" marL="0">
              <a:buNone/>
            </a:pPr>
            <a:r>
              <a:rPr lang="en-US" sz="1350" dirty="0">
                <a:solidFill>
                  <a:srgbClr val="4B5563"/>
                </a:solidFill>
                <a:latin typeface="Arimo" pitchFamily="34" charset="0"/>
                <a:ea typeface="Arimo" pitchFamily="34" charset="-122"/>
                <a:cs typeface="Arimo" pitchFamily="34" charset="-120"/>
              </a:rPr>
              <a:t>A negative mechanism result is allowed to stop the drug story.</a:t>
            </a:r>
            <a:endParaRPr lang="en-US" sz="1350" dirty="0"/>
          </a:p>
        </p:txBody>
      </p:sp>
      <p:sp>
        <p:nvSpPr>
          <p:cNvPr id="6" name="Shape 4"/>
          <p:cNvSpPr/>
          <p:nvPr/>
        </p:nvSpPr>
        <p:spPr>
          <a:xfrm>
            <a:off x="3886200" y="1280160"/>
            <a:ext cx="4434840" cy="868680"/>
          </a:xfrm>
          <a:prstGeom prst="roundRect">
            <a:avLst>
              <a:gd name="adj" fmla="val 8421"/>
            </a:avLst>
          </a:prstGeom>
          <a:solidFill>
            <a:srgbClr val="EFF6FF"/>
          </a:solidFill>
          <a:ln w="12700">
            <a:solidFill>
              <a:srgbClr val="BFDBFE"/>
            </a:solidFill>
            <a:prstDash val="solid"/>
          </a:ln>
        </p:spPr>
      </p:sp>
      <p:sp>
        <p:nvSpPr>
          <p:cNvPr id="7" name="Text 5"/>
          <p:cNvSpPr/>
          <p:nvPr/>
        </p:nvSpPr>
        <p:spPr>
          <a:xfrm>
            <a:off x="4160520" y="1499616"/>
            <a:ext cx="3886200" cy="320040"/>
          </a:xfrm>
          <a:prstGeom prst="rect">
            <a:avLst/>
          </a:prstGeom>
          <a:noFill/>
          <a:ln/>
        </p:spPr>
        <p:txBody>
          <a:bodyPr wrap="square" lIns="0" tIns="0" rIns="0" bIns="0" rtlCol="0" anchor="ctr">
            <a:normAutofit/>
          </a:bodyPr>
          <a:lstStyle/>
          <a:p>
            <a:pPr algn="ctr" indent="0" marL="0">
              <a:buNone/>
            </a:pPr>
            <a:r>
              <a:rPr lang="en-US" sz="2100" b="1" dirty="0">
                <a:solidFill>
                  <a:srgbClr val="111827"/>
                </a:solidFill>
                <a:latin typeface="Arimo" pitchFamily="34" charset="0"/>
                <a:ea typeface="Arimo" pitchFamily="34" charset="-122"/>
                <a:cs typeface="Arimo" pitchFamily="34" charset="-120"/>
              </a:rPr>
              <a:t>Abundance-matched WT vs N1002K</a:t>
            </a:r>
            <a:endParaRPr lang="en-US" sz="2100" dirty="0"/>
          </a:p>
        </p:txBody>
      </p:sp>
      <p:sp>
        <p:nvSpPr>
          <p:cNvPr id="8" name="Shape 6"/>
          <p:cNvSpPr/>
          <p:nvPr/>
        </p:nvSpPr>
        <p:spPr>
          <a:xfrm>
            <a:off x="6108192" y="2157984"/>
            <a:ext cx="-3712464" cy="612648"/>
          </a:xfrm>
          <a:prstGeom prst="line">
            <a:avLst/>
          </a:prstGeom>
          <a:noFill/>
          <a:ln w="19050">
            <a:solidFill>
              <a:srgbClr val="64748B"/>
            </a:solidFill>
            <a:prstDash val="solid"/>
            <a:tailEnd type="triangle"/>
          </a:ln>
        </p:spPr>
      </p:sp>
      <p:sp>
        <p:nvSpPr>
          <p:cNvPr id="9" name="Shape 7"/>
          <p:cNvSpPr/>
          <p:nvPr/>
        </p:nvSpPr>
        <p:spPr>
          <a:xfrm>
            <a:off x="6108192" y="2157984"/>
            <a:ext cx="0" cy="612648"/>
          </a:xfrm>
          <a:prstGeom prst="line">
            <a:avLst/>
          </a:prstGeom>
          <a:noFill/>
          <a:ln w="19050">
            <a:solidFill>
              <a:srgbClr val="64748B"/>
            </a:solidFill>
            <a:prstDash val="solid"/>
            <a:tailEnd type="triangle"/>
          </a:ln>
        </p:spPr>
      </p:sp>
      <p:sp>
        <p:nvSpPr>
          <p:cNvPr id="10" name="Shape 8"/>
          <p:cNvSpPr/>
          <p:nvPr/>
        </p:nvSpPr>
        <p:spPr>
          <a:xfrm>
            <a:off x="6108192" y="2157984"/>
            <a:ext cx="3721608" cy="612648"/>
          </a:xfrm>
          <a:prstGeom prst="line">
            <a:avLst/>
          </a:prstGeom>
          <a:noFill/>
          <a:ln w="19050">
            <a:solidFill>
              <a:srgbClr val="64748B"/>
            </a:solidFill>
            <a:prstDash val="solid"/>
            <a:tailEnd type="triangle"/>
          </a:ln>
        </p:spPr>
      </p:sp>
      <p:sp>
        <p:nvSpPr>
          <p:cNvPr id="11" name="Shape 9"/>
          <p:cNvSpPr/>
          <p:nvPr/>
        </p:nvSpPr>
        <p:spPr>
          <a:xfrm>
            <a:off x="594360" y="2788920"/>
            <a:ext cx="3337560" cy="2560320"/>
          </a:xfrm>
          <a:prstGeom prst="roundRect">
            <a:avLst>
              <a:gd name="adj" fmla="val 2857"/>
            </a:avLst>
          </a:prstGeom>
          <a:solidFill>
            <a:srgbClr val="ECFDF5"/>
          </a:solidFill>
          <a:ln w="12700">
            <a:solidFill>
              <a:srgbClr val="A7F3D0"/>
            </a:solidFill>
            <a:prstDash val="solid"/>
          </a:ln>
        </p:spPr>
      </p:sp>
      <p:sp>
        <p:nvSpPr>
          <p:cNvPr id="12" name="Shape 10"/>
          <p:cNvSpPr/>
          <p:nvPr/>
        </p:nvSpPr>
        <p:spPr>
          <a:xfrm>
            <a:off x="850392" y="3017520"/>
            <a:ext cx="1143000" cy="329184"/>
          </a:xfrm>
          <a:prstGeom prst="roundRect">
            <a:avLst>
              <a:gd name="adj" fmla="val 33333"/>
            </a:avLst>
          </a:prstGeom>
          <a:solidFill>
            <a:srgbClr val="FFFFFF"/>
          </a:solidFill>
          <a:ln w="12700">
            <a:solidFill>
              <a:srgbClr val="FFFFFF"/>
            </a:solidFill>
            <a:prstDash val="solid"/>
          </a:ln>
        </p:spPr>
      </p:sp>
      <p:sp>
        <p:nvSpPr>
          <p:cNvPr id="13" name="Text 11"/>
          <p:cNvSpPr/>
          <p:nvPr/>
        </p:nvSpPr>
        <p:spPr>
          <a:xfrm>
            <a:off x="923544" y="3067812"/>
            <a:ext cx="996696" cy="201168"/>
          </a:xfrm>
          <a:prstGeom prst="rect">
            <a:avLst/>
          </a:prstGeom>
          <a:noFill/>
          <a:ln/>
        </p:spPr>
        <p:txBody>
          <a:bodyPr wrap="square" lIns="0" tIns="0" rIns="0" bIns="0" rtlCol="0" anchor="ctr">
            <a:normAutofit/>
          </a:bodyPr>
          <a:lstStyle/>
          <a:p>
            <a:pPr algn="ctr" indent="0" marL="0">
              <a:buNone/>
            </a:pPr>
            <a:r>
              <a:rPr lang="en-US" sz="1050" b="1" dirty="0">
                <a:solidFill>
                  <a:srgbClr val="0F766E"/>
                </a:solidFill>
                <a:latin typeface="Arimo" pitchFamily="34" charset="0"/>
                <a:ea typeface="Arimo" pitchFamily="34" charset="-122"/>
                <a:cs typeface="Arimo" pitchFamily="34" charset="-120"/>
              </a:rPr>
              <a:t>CONTINUE</a:t>
            </a:r>
            <a:endParaRPr lang="en-US" sz="1050" dirty="0"/>
          </a:p>
        </p:txBody>
      </p:sp>
      <p:sp>
        <p:nvSpPr>
          <p:cNvPr id="14" name="Text 12"/>
          <p:cNvSpPr/>
          <p:nvPr/>
        </p:nvSpPr>
        <p:spPr>
          <a:xfrm>
            <a:off x="850392" y="3493008"/>
            <a:ext cx="2788920" cy="658368"/>
          </a:xfrm>
          <a:prstGeom prst="rect">
            <a:avLst/>
          </a:prstGeom>
          <a:noFill/>
          <a:ln/>
        </p:spPr>
        <p:txBody>
          <a:bodyPr wrap="square" lIns="0" tIns="0" rIns="0" bIns="0" rtlCol="0" anchor="ctr">
            <a:normAutofit/>
          </a:bodyPr>
          <a:lstStyle/>
          <a:p>
            <a:pPr algn="l" indent="0" marL="0">
              <a:buNone/>
            </a:pPr>
            <a:r>
              <a:rPr lang="en-US" sz="2200" b="1" dirty="0">
                <a:solidFill>
                  <a:srgbClr val="0F766E"/>
                </a:solidFill>
                <a:latin typeface="Arimo" pitchFamily="34" charset="0"/>
                <a:ea typeface="Arimo" pitchFamily="34" charset="-122"/>
                <a:cs typeface="Arimo" pitchFamily="34" charset="-120"/>
              </a:rPr>
              <a:t>ABUNDANCE-DOMINANT</a:t>
            </a:r>
            <a:endParaRPr lang="en-US" sz="2200" dirty="0"/>
          </a:p>
          <a:p>
            <a:pPr algn="l" indent="0" marL="0">
              <a:buNone/>
            </a:pPr>
            <a:r>
              <a:rPr lang="en-US" sz="2200" b="1" dirty="0">
                <a:solidFill>
                  <a:srgbClr val="0F766E"/>
                </a:solidFill>
                <a:latin typeface="Arimo" pitchFamily="34" charset="0"/>
                <a:ea typeface="Arimo" pitchFamily="34" charset="-122"/>
                <a:cs typeface="Arimo" pitchFamily="34" charset="-120"/>
              </a:rPr>
              <a:t>or MIXED</a:t>
            </a:r>
            <a:endParaRPr lang="en-US" sz="2200" dirty="0"/>
          </a:p>
        </p:txBody>
      </p:sp>
      <p:sp>
        <p:nvSpPr>
          <p:cNvPr id="15" name="Text 13"/>
          <p:cNvSpPr/>
          <p:nvPr/>
        </p:nvSpPr>
        <p:spPr>
          <a:xfrm>
            <a:off x="850392" y="4261104"/>
            <a:ext cx="2743200" cy="530352"/>
          </a:xfrm>
          <a:prstGeom prst="rect">
            <a:avLst/>
          </a:prstGeom>
          <a:noFill/>
          <a:ln/>
        </p:spPr>
        <p:txBody>
          <a:bodyPr wrap="square" lIns="0" tIns="0" rIns="0" bIns="0" rtlCol="0" anchor="ctr">
            <a:normAutofit/>
          </a:bodyPr>
          <a:lstStyle/>
          <a:p>
            <a:pPr algn="l" indent="0" marL="0">
              <a:buNone/>
            </a:pPr>
            <a:r>
              <a:rPr lang="en-US" sz="1550" dirty="0">
                <a:solidFill>
                  <a:srgbClr val="111827"/>
                </a:solidFill>
                <a:latin typeface="Arimo" pitchFamily="34" charset="0"/>
                <a:ea typeface="Arimo" pitchFamily="34" charset="-122"/>
                <a:cs typeface="Arimo" pitchFamily="34" charset="-120"/>
              </a:rPr>
              <a:t>If raising N1002K abundance moves function toward WT:</a:t>
            </a:r>
            <a:endParaRPr lang="en-US" sz="1550" dirty="0"/>
          </a:p>
        </p:txBody>
      </p:sp>
      <p:sp>
        <p:nvSpPr>
          <p:cNvPr id="16" name="Text 14"/>
          <p:cNvSpPr/>
          <p:nvPr/>
        </p:nvSpPr>
        <p:spPr>
          <a:xfrm>
            <a:off x="850392" y="4773168"/>
            <a:ext cx="2743200" cy="365760"/>
          </a:xfrm>
          <a:prstGeom prst="rect">
            <a:avLst/>
          </a:prstGeom>
          <a:noFill/>
          <a:ln/>
        </p:spPr>
        <p:txBody>
          <a:bodyPr wrap="square" lIns="0" tIns="0" rIns="0" bIns="0" rtlCol="0" anchor="ctr">
            <a:normAutofit/>
          </a:bodyPr>
          <a:lstStyle/>
          <a:p>
            <a:pPr algn="l" indent="0" marL="0">
              <a:buNone/>
            </a:pPr>
            <a:r>
              <a:rPr lang="en-US" sz="1550" b="1" dirty="0">
                <a:solidFill>
                  <a:srgbClr val="111827"/>
                </a:solidFill>
                <a:latin typeface="Arimo" pitchFamily="34" charset="0"/>
                <a:ea typeface="Arimo" pitchFamily="34" charset="-122"/>
                <a:cs typeface="Arimo" pitchFamily="34" charset="-120"/>
              </a:rPr>
              <a:t>conditional proteostasis testing is admissible</a:t>
            </a:r>
            <a:endParaRPr lang="en-US" sz="1550" dirty="0"/>
          </a:p>
        </p:txBody>
      </p:sp>
      <p:sp>
        <p:nvSpPr>
          <p:cNvPr id="17" name="Shape 15"/>
          <p:cNvSpPr/>
          <p:nvPr/>
        </p:nvSpPr>
        <p:spPr>
          <a:xfrm>
            <a:off x="4425696" y="2788920"/>
            <a:ext cx="3364992" cy="2560320"/>
          </a:xfrm>
          <a:prstGeom prst="roundRect">
            <a:avLst>
              <a:gd name="adj" fmla="val 2857"/>
            </a:avLst>
          </a:prstGeom>
          <a:solidFill>
            <a:srgbClr val="FEF2F2"/>
          </a:solidFill>
          <a:ln w="12700">
            <a:solidFill>
              <a:srgbClr val="FECACA"/>
            </a:solidFill>
            <a:prstDash val="solid"/>
          </a:ln>
        </p:spPr>
      </p:sp>
      <p:sp>
        <p:nvSpPr>
          <p:cNvPr id="18" name="Shape 16"/>
          <p:cNvSpPr/>
          <p:nvPr/>
        </p:nvSpPr>
        <p:spPr>
          <a:xfrm>
            <a:off x="4681728" y="3017520"/>
            <a:ext cx="1627632" cy="329184"/>
          </a:xfrm>
          <a:prstGeom prst="roundRect">
            <a:avLst>
              <a:gd name="adj" fmla="val 33333"/>
            </a:avLst>
          </a:prstGeom>
          <a:solidFill>
            <a:srgbClr val="FFFFFF"/>
          </a:solidFill>
          <a:ln w="12700">
            <a:solidFill>
              <a:srgbClr val="FFFFFF"/>
            </a:solidFill>
            <a:prstDash val="solid"/>
          </a:ln>
        </p:spPr>
      </p:sp>
      <p:sp>
        <p:nvSpPr>
          <p:cNvPr id="19" name="Text 17"/>
          <p:cNvSpPr/>
          <p:nvPr/>
        </p:nvSpPr>
        <p:spPr>
          <a:xfrm>
            <a:off x="4754880" y="3067812"/>
            <a:ext cx="1481328" cy="201168"/>
          </a:xfrm>
          <a:prstGeom prst="rect">
            <a:avLst/>
          </a:prstGeom>
          <a:noFill/>
          <a:ln/>
        </p:spPr>
        <p:txBody>
          <a:bodyPr wrap="square" lIns="0" tIns="0" rIns="0" bIns="0" rtlCol="0" anchor="ctr">
            <a:normAutofit/>
          </a:bodyPr>
          <a:lstStyle/>
          <a:p>
            <a:pPr algn="ctr" indent="0" marL="0">
              <a:buNone/>
            </a:pPr>
            <a:r>
              <a:rPr lang="en-US" sz="1050" b="1" dirty="0">
                <a:solidFill>
                  <a:srgbClr val="B91C1C"/>
                </a:solidFill>
                <a:latin typeface="Arimo" pitchFamily="34" charset="0"/>
                <a:ea typeface="Arimo" pitchFamily="34" charset="-122"/>
                <a:cs typeface="Arimo" pitchFamily="34" charset="-120"/>
              </a:rPr>
              <a:t>STOP REPURPOSING</a:t>
            </a:r>
            <a:endParaRPr lang="en-US" sz="1050" dirty="0"/>
          </a:p>
        </p:txBody>
      </p:sp>
      <p:sp>
        <p:nvSpPr>
          <p:cNvPr id="20" name="Text 18"/>
          <p:cNvSpPr/>
          <p:nvPr/>
        </p:nvSpPr>
        <p:spPr>
          <a:xfrm>
            <a:off x="4681728" y="3547872"/>
            <a:ext cx="2816352" cy="420624"/>
          </a:xfrm>
          <a:prstGeom prst="rect">
            <a:avLst/>
          </a:prstGeom>
          <a:noFill/>
          <a:ln/>
        </p:spPr>
        <p:txBody>
          <a:bodyPr wrap="square" lIns="0" tIns="0" rIns="0" bIns="0" rtlCol="0" anchor="ctr">
            <a:normAutofit/>
          </a:bodyPr>
          <a:lstStyle/>
          <a:p>
            <a:pPr algn="l" indent="0" marL="0">
              <a:buNone/>
            </a:pPr>
            <a:r>
              <a:rPr lang="en-US" sz="2200" b="1" dirty="0">
                <a:solidFill>
                  <a:srgbClr val="B91C1C"/>
                </a:solidFill>
                <a:latin typeface="Arimo" pitchFamily="34" charset="0"/>
                <a:ea typeface="Arimo" pitchFamily="34" charset="-122"/>
                <a:cs typeface="Arimo" pitchFamily="34" charset="-120"/>
              </a:rPr>
              <a:t>FUNCTION-DOMINANT</a:t>
            </a:r>
            <a:endParaRPr lang="en-US" sz="2200" dirty="0"/>
          </a:p>
        </p:txBody>
      </p:sp>
      <p:sp>
        <p:nvSpPr>
          <p:cNvPr id="21" name="Text 19"/>
          <p:cNvSpPr/>
          <p:nvPr/>
        </p:nvSpPr>
        <p:spPr>
          <a:xfrm>
            <a:off x="4681728" y="4160520"/>
            <a:ext cx="2779776" cy="868680"/>
          </a:xfrm>
          <a:prstGeom prst="rect">
            <a:avLst/>
          </a:prstGeom>
          <a:noFill/>
          <a:ln/>
        </p:spPr>
        <p:txBody>
          <a:bodyPr wrap="square" lIns="0" tIns="0" rIns="0" bIns="0" rtlCol="0" anchor="ctr">
            <a:normAutofit/>
          </a:bodyPr>
          <a:lstStyle/>
          <a:p>
            <a:pPr algn="l" indent="0" marL="0">
              <a:buNone/>
            </a:pPr>
            <a:r>
              <a:rPr lang="en-US" sz="1600" b="1" dirty="0">
                <a:solidFill>
                  <a:srgbClr val="111827"/>
                </a:solidFill>
                <a:latin typeface="Arimo" pitchFamily="34" charset="0"/>
                <a:ea typeface="Arimo" pitchFamily="34" charset="-122"/>
                <a:cs typeface="Arimo" pitchFamily="34" charset="-120"/>
              </a:rPr>
              <a:t>No approved drug in the audited target space qualifies as a credible causal rescue.</a:t>
            </a:r>
            <a:endParaRPr lang="en-US" sz="1600" dirty="0"/>
          </a:p>
        </p:txBody>
      </p:sp>
      <p:sp>
        <p:nvSpPr>
          <p:cNvPr id="22" name="Shape 20"/>
          <p:cNvSpPr/>
          <p:nvPr/>
        </p:nvSpPr>
        <p:spPr>
          <a:xfrm>
            <a:off x="8266176" y="2788920"/>
            <a:ext cx="3337560" cy="2560320"/>
          </a:xfrm>
          <a:prstGeom prst="roundRect">
            <a:avLst>
              <a:gd name="adj" fmla="val 2857"/>
            </a:avLst>
          </a:prstGeom>
          <a:solidFill>
            <a:srgbClr val="F3F4F6"/>
          </a:solidFill>
          <a:ln w="12700">
            <a:solidFill>
              <a:srgbClr val="D1D5DB"/>
            </a:solidFill>
            <a:prstDash val="solid"/>
          </a:ln>
        </p:spPr>
      </p:sp>
      <p:sp>
        <p:nvSpPr>
          <p:cNvPr id="23" name="Shape 21"/>
          <p:cNvSpPr/>
          <p:nvPr/>
        </p:nvSpPr>
        <p:spPr>
          <a:xfrm>
            <a:off x="8522208" y="3017520"/>
            <a:ext cx="1298448" cy="329184"/>
          </a:xfrm>
          <a:prstGeom prst="roundRect">
            <a:avLst>
              <a:gd name="adj" fmla="val 33333"/>
            </a:avLst>
          </a:prstGeom>
          <a:solidFill>
            <a:srgbClr val="FFFFFF"/>
          </a:solidFill>
          <a:ln w="12700">
            <a:solidFill>
              <a:srgbClr val="FFFFFF"/>
            </a:solidFill>
            <a:prstDash val="solid"/>
          </a:ln>
        </p:spPr>
      </p:sp>
      <p:sp>
        <p:nvSpPr>
          <p:cNvPr id="24" name="Text 22"/>
          <p:cNvSpPr/>
          <p:nvPr/>
        </p:nvSpPr>
        <p:spPr>
          <a:xfrm>
            <a:off x="8595360" y="3067812"/>
            <a:ext cx="1152144" cy="201168"/>
          </a:xfrm>
          <a:prstGeom prst="rect">
            <a:avLst/>
          </a:prstGeom>
          <a:noFill/>
          <a:ln/>
        </p:spPr>
        <p:txBody>
          <a:bodyPr wrap="square" lIns="0" tIns="0" rIns="0" bIns="0" rtlCol="0" anchor="ctr">
            <a:normAutofit/>
          </a:bodyPr>
          <a:lstStyle/>
          <a:p>
            <a:pPr algn="ctr" indent="0" marL="0">
              <a:buNone/>
            </a:pPr>
            <a:r>
              <a:rPr lang="en-US" sz="1050" b="1" dirty="0">
                <a:solidFill>
                  <a:srgbClr val="4B5563"/>
                </a:solidFill>
                <a:latin typeface="Arimo" pitchFamily="34" charset="0"/>
                <a:ea typeface="Arimo" pitchFamily="34" charset="-122"/>
                <a:cs typeface="Arimo" pitchFamily="34" charset="-120"/>
              </a:rPr>
              <a:t>STOP CLAIMS</a:t>
            </a:r>
            <a:endParaRPr lang="en-US" sz="1050" dirty="0"/>
          </a:p>
        </p:txBody>
      </p:sp>
      <p:sp>
        <p:nvSpPr>
          <p:cNvPr id="25" name="Text 23"/>
          <p:cNvSpPr/>
          <p:nvPr/>
        </p:nvSpPr>
        <p:spPr>
          <a:xfrm>
            <a:off x="8522208" y="3547872"/>
            <a:ext cx="2761488" cy="420624"/>
          </a:xfrm>
          <a:prstGeom prst="rect">
            <a:avLst/>
          </a:prstGeom>
          <a:noFill/>
          <a:ln/>
        </p:spPr>
        <p:txBody>
          <a:bodyPr wrap="square" lIns="0" tIns="0" rIns="0" bIns="0" rtlCol="0" anchor="ctr">
            <a:normAutofit/>
          </a:bodyPr>
          <a:lstStyle/>
          <a:p>
            <a:pPr algn="l" indent="0" marL="0">
              <a:buNone/>
            </a:pPr>
            <a:r>
              <a:rPr lang="en-US" sz="2200" b="1" dirty="0">
                <a:solidFill>
                  <a:srgbClr val="4B5563"/>
                </a:solidFill>
                <a:latin typeface="Arimo" pitchFamily="34" charset="0"/>
                <a:ea typeface="Arimo" pitchFamily="34" charset="-122"/>
                <a:cs typeface="Arimo" pitchFamily="34" charset="-120"/>
              </a:rPr>
              <a:t>INDETERMINATE</a:t>
            </a:r>
            <a:endParaRPr lang="en-US" sz="2200" dirty="0"/>
          </a:p>
        </p:txBody>
      </p:sp>
      <p:sp>
        <p:nvSpPr>
          <p:cNvPr id="26" name="Text 24"/>
          <p:cNvSpPr/>
          <p:nvPr/>
        </p:nvSpPr>
        <p:spPr>
          <a:xfrm>
            <a:off x="8522208" y="4160520"/>
            <a:ext cx="2761488" cy="868680"/>
          </a:xfrm>
          <a:prstGeom prst="rect">
            <a:avLst/>
          </a:prstGeom>
          <a:noFill/>
          <a:ln/>
        </p:spPr>
        <p:txBody>
          <a:bodyPr wrap="square" lIns="0" tIns="0" rIns="0" bIns="0" rtlCol="0" anchor="ctr">
            <a:normAutofit/>
          </a:bodyPr>
          <a:lstStyle/>
          <a:p>
            <a:pPr algn="l" indent="0" marL="0">
              <a:buNone/>
            </a:pPr>
            <a:r>
              <a:rPr lang="en-US" sz="1600" b="1" dirty="0">
                <a:solidFill>
                  <a:srgbClr val="111827"/>
                </a:solidFill>
                <a:latin typeface="Arimo" pitchFamily="34" charset="0"/>
                <a:ea typeface="Arimo" pitchFamily="34" charset="-122"/>
                <a:cs typeface="Arimo" pitchFamily="34" charset="-120"/>
              </a:rPr>
              <a:t>Improve the assay or resolve the mechanism before making a therapeutic claim.</a:t>
            </a:r>
            <a:endParaRPr lang="en-US" sz="1600" dirty="0"/>
          </a:p>
        </p:txBody>
      </p:sp>
      <p:sp>
        <p:nvSpPr>
          <p:cNvPr id="27" name="Text 25"/>
          <p:cNvSpPr/>
          <p:nvPr/>
        </p:nvSpPr>
        <p:spPr>
          <a:xfrm>
            <a:off x="4187952" y="5833872"/>
            <a:ext cx="3858768" cy="365760"/>
          </a:xfrm>
          <a:prstGeom prst="rect">
            <a:avLst/>
          </a:prstGeom>
          <a:noFill/>
          <a:ln/>
        </p:spPr>
        <p:txBody>
          <a:bodyPr wrap="square" lIns="0" tIns="0" rIns="0" bIns="0" rtlCol="0" anchor="ctr">
            <a:normAutofit/>
          </a:bodyPr>
          <a:lstStyle/>
          <a:p>
            <a:pPr algn="ctr" indent="0" marL="0">
              <a:buNone/>
            </a:pPr>
            <a:r>
              <a:rPr lang="en-US" sz="1700" i="1" dirty="0">
                <a:solidFill>
                  <a:srgbClr val="4B5563"/>
                </a:solidFill>
                <a:latin typeface="Arimo" pitchFamily="34" charset="0"/>
                <a:ea typeface="Arimo" pitchFamily="34" charset="-122"/>
                <a:cs typeface="Arimo" pitchFamily="34" charset="-120"/>
              </a:rPr>
              <a:t>This is a real gate, not a decorative branch.</a:t>
            </a:r>
            <a:endParaRPr lang="en-US" sz="1700" dirty="0"/>
          </a:p>
        </p:txBody>
      </p:sp>
      <p:sp>
        <p:nvSpPr>
          <p:cNvPr id="25" name="Slide Number Placeholder 0"/>
          <p:cNvSpPr>
            <a:spLocks noGrp="1"/>
          </p:cNvSpPr>
          <p:nvPr>
            <p:ph type="sldNum" sz="quarter" idx="4294967295"/>
          </p:nvPr>
        </p:nvSpPr>
        <p:spPr>
          <a:xfrm>
            <a:off x="11265408" y="6565392"/>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9CA3AF"/>
                </a:solidFill>
                <a:latin typeface="Arimo"/>
                <a:ea typeface="Arimo"/>
                <a:cs typeface="Arim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0744200" y="329184"/>
            <a:ext cx="941832" cy="292608"/>
          </a:xfrm>
          <a:prstGeom prst="roundRect">
            <a:avLst>
              <a:gd name="adj" fmla="val 18750"/>
            </a:avLst>
          </a:prstGeom>
          <a:solidFill>
            <a:srgbClr val="F3F4F6"/>
          </a:solidFill>
          <a:ln w="7620">
            <a:solidFill>
              <a:srgbClr val="D1D5DB"/>
            </a:solidFill>
            <a:prstDash val="solid"/>
          </a:ln>
        </p:spPr>
        <p:txBody>
          <a:bodyPr/>
          <a:p/>
        </p:txBody>
      </p:sp>
      <p:sp>
        <p:nvSpPr>
          <p:cNvPr id="3" name="Text 1"/>
          <p:cNvSpPr/>
          <p:nvPr/>
        </p:nvSpPr>
        <p:spPr>
          <a:xfrm>
            <a:off x="10762488" y="361188"/>
            <a:ext cx="905256" cy="173736"/>
          </a:xfrm>
          <a:prstGeom prst="rect">
            <a:avLst/>
          </a:prstGeom>
          <a:noFill/>
          <a:ln/>
        </p:spPr>
        <p:txBody>
          <a:bodyPr wrap="square" lIns="0" tIns="0" rIns="0" bIns="0" rtlCol="0" anchor="ctr">
            <a:normAutofit/>
          </a:bodyPr>
          <a:lstStyle/>
          <a:p>
            <a:r>
              <a:t>1:02-1:27</a:t>
            </a:r>
          </a:p>
        </p:txBody>
      </p:sp>
      <p:sp>
        <p:nvSpPr>
          <p:cNvPr id="4" name="Text 2"/>
          <p:cNvSpPr/>
          <p:nvPr/>
        </p:nvSpPr>
        <p:spPr>
          <a:xfrm>
            <a:off x="502920" y="329184"/>
            <a:ext cx="10012680" cy="502920"/>
          </a:xfrm>
          <a:prstGeom prst="rect">
            <a:avLst/>
          </a:prstGeom>
          <a:noFill/>
          <a:ln/>
        </p:spPr>
        <p:txBody>
          <a:bodyPr wrap="square" lIns="0" tIns="0" rIns="0" bIns="0" rtlCol="0" anchor="ctr">
            <a:normAutofit/>
          </a:bodyPr>
          <a:lstStyle/>
          <a:p>
            <a:pPr algn="l" indent="0" marL="0">
              <a:buNone/>
            </a:pPr>
            <a:r>
              <a:rPr lang="en-US" sz="2700" b="1" dirty="0">
                <a:solidFill>
                  <a:srgbClr val="111827"/>
                </a:solidFill>
                <a:latin typeface="Arimo" pitchFamily="34" charset="0"/>
                <a:ea typeface="Arimo" pitchFamily="34" charset="-122"/>
                <a:cs typeface="Arimo" pitchFamily="34" charset="-120"/>
              </a:rPr>
              <a:t>The drug-coverage audit was repaired</a:t>
            </a:r>
            <a:endParaRPr lang="en-US" sz="2700" dirty="0"/>
          </a:p>
        </p:txBody>
      </p:sp>
      <p:sp>
        <p:nvSpPr>
          <p:cNvPr id="5" name="Text 3"/>
          <p:cNvSpPr/>
          <p:nvPr/>
        </p:nvSpPr>
        <p:spPr>
          <a:xfrm>
            <a:off x="502920" y="841248"/>
            <a:ext cx="10012680" cy="310896"/>
          </a:xfrm>
          <a:prstGeom prst="rect">
            <a:avLst/>
          </a:prstGeom>
          <a:noFill/>
          <a:ln/>
        </p:spPr>
        <p:txBody>
          <a:bodyPr wrap="square" lIns="0" tIns="0" rIns="0" bIns="0" rtlCol="0" anchor="ctr">
            <a:normAutofit/>
          </a:bodyPr>
          <a:lstStyle/>
          <a:p>
            <a:pPr algn="l" indent="0" marL="0">
              <a:buNone/>
            </a:pPr>
            <a:r>
              <a:rPr lang="en-US" sz="1350" dirty="0">
                <a:solidFill>
                  <a:srgbClr val="4B5563"/>
                </a:solidFill>
                <a:latin typeface="Arimo" pitchFamily="34" charset="0"/>
                <a:ea typeface="Arimo" pitchFamily="34" charset="-122"/>
                <a:cs typeface="Arimo" pitchFamily="34" charset="-120"/>
              </a:rPr>
              <a:t>Exact UniProt-component mapping, approval filtering, and explicit NOT_RUN states</a:t>
            </a:r>
            <a:endParaRPr lang="en-US" sz="1350" dirty="0"/>
          </a:p>
        </p:txBody>
      </p:sp>
      <p:sp>
        <p:nvSpPr>
          <p:cNvPr id="6" name="Shape 4"/>
          <p:cNvSpPr/>
          <p:nvPr/>
        </p:nvSpPr>
        <p:spPr>
          <a:xfrm>
            <a:off x="594360" y="1371600"/>
            <a:ext cx="1874520" cy="1417320"/>
          </a:xfrm>
          <a:prstGeom prst="roundRect">
            <a:avLst>
              <a:gd name="adj" fmla="val 5161"/>
            </a:avLst>
          </a:prstGeom>
          <a:solidFill>
            <a:srgbClr val="EFF6FF"/>
          </a:solidFill>
          <a:ln w="12700">
            <a:solidFill>
              <a:srgbClr val="BFDBFE"/>
            </a:solidFill>
            <a:prstDash val="solid"/>
          </a:ln>
        </p:spPr>
        <p:txBody>
          <a:bodyPr/>
          <a:p/>
        </p:txBody>
      </p:sp>
      <p:sp>
        <p:nvSpPr>
          <p:cNvPr id="7" name="Text 5"/>
          <p:cNvSpPr/>
          <p:nvPr/>
        </p:nvSpPr>
        <p:spPr>
          <a:xfrm>
            <a:off x="704088" y="1536192"/>
            <a:ext cx="1645920" cy="438912"/>
          </a:xfrm>
          <a:prstGeom prst="rect">
            <a:avLst/>
          </a:prstGeom>
          <a:noFill/>
          <a:ln/>
        </p:spPr>
        <p:txBody>
          <a:bodyPr wrap="square" lIns="0" tIns="0" rIns="0" bIns="0" rtlCol="0" anchor="ctr">
            <a:normAutofit/>
          </a:bodyPr>
          <a:lstStyle/>
          <a:p>
            <a:pPr algn="ctr" indent="0" marL="0">
              <a:buNone/>
            </a:pPr>
            <a:r>
              <a:rPr lang="en-US" sz="3100" b="1" dirty="0">
                <a:solidFill>
                  <a:srgbClr val="2563EB"/>
                </a:solidFill>
                <a:latin typeface="Arimo" pitchFamily="34" charset="0"/>
                <a:ea typeface="Arimo" pitchFamily="34" charset="-122"/>
                <a:cs typeface="Arimo" pitchFamily="34" charset="-120"/>
              </a:rPr>
              <a:t>13</a:t>
            </a:r>
            <a:endParaRPr lang="en-US" sz="3100" dirty="0"/>
          </a:p>
        </p:txBody>
      </p:sp>
      <p:sp>
        <p:nvSpPr>
          <p:cNvPr id="8" name="Text 6"/>
          <p:cNvSpPr/>
          <p:nvPr/>
        </p:nvSpPr>
        <p:spPr>
          <a:xfrm>
            <a:off x="731520" y="1984248"/>
            <a:ext cx="1600200" cy="502920"/>
          </a:xfrm>
          <a:prstGeom prst="rect">
            <a:avLst/>
          </a:prstGeom>
          <a:noFill/>
          <a:ln/>
        </p:spPr>
        <p:txBody>
          <a:bodyPr wrap="square" lIns="0" tIns="0" rIns="0" bIns="0" rtlCol="0" anchor="ctr">
            <a:normAutofit/>
          </a:bodyPr>
          <a:lstStyle/>
          <a:p>
            <a:pPr algn="ctr" indent="0" marL="0">
              <a:buNone/>
            </a:pPr>
            <a:r>
              <a:rPr lang="en-US" sz="1250" dirty="0">
                <a:solidFill>
                  <a:srgbClr val="4B5563"/>
                </a:solidFill>
                <a:latin typeface="Arimo" pitchFamily="34" charset="0"/>
                <a:ea typeface="Arimo" pitchFamily="34" charset="-122"/>
                <a:cs typeface="Arimo" pitchFamily="34" charset="-120"/>
              </a:rPr>
              <a:t>prespecified targets</a:t>
            </a:r>
            <a:endParaRPr lang="en-US" sz="1250" dirty="0"/>
          </a:p>
        </p:txBody>
      </p:sp>
      <p:sp>
        <p:nvSpPr>
          <p:cNvPr id="9" name="Shape 7"/>
          <p:cNvSpPr/>
          <p:nvPr/>
        </p:nvSpPr>
        <p:spPr>
          <a:xfrm>
            <a:off x="2752344" y="1371600"/>
            <a:ext cx="1874520" cy="1417320"/>
          </a:xfrm>
          <a:prstGeom prst="roundRect">
            <a:avLst>
              <a:gd name="adj" fmla="val 5161"/>
            </a:avLst>
          </a:prstGeom>
          <a:solidFill>
            <a:srgbClr val="FFFFFF"/>
          </a:solidFill>
          <a:ln w="12700">
            <a:solidFill>
              <a:srgbClr val="D1D5DB"/>
            </a:solidFill>
            <a:prstDash val="solid"/>
          </a:ln>
        </p:spPr>
        <p:txBody>
          <a:bodyPr/>
          <a:p/>
        </p:txBody>
      </p:sp>
      <p:sp>
        <p:nvSpPr>
          <p:cNvPr id="10" name="Text 8"/>
          <p:cNvSpPr/>
          <p:nvPr/>
        </p:nvSpPr>
        <p:spPr>
          <a:xfrm>
            <a:off x="2862072" y="1536192"/>
            <a:ext cx="1645920" cy="438912"/>
          </a:xfrm>
          <a:prstGeom prst="rect">
            <a:avLst/>
          </a:prstGeom>
          <a:noFill/>
          <a:ln/>
        </p:spPr>
        <p:txBody>
          <a:bodyPr wrap="square" lIns="0" tIns="0" rIns="0" bIns="0" rtlCol="0" anchor="ctr">
            <a:normAutofit/>
          </a:bodyPr>
          <a:lstStyle/>
          <a:p>
            <a:pPr algn="ctr" indent="0" marL="0">
              <a:buNone/>
            </a:pPr>
            <a:r>
              <a:rPr lang="en-US" sz="3100" b="1" dirty="0">
                <a:solidFill>
                  <a:srgbClr val="111827"/>
                </a:solidFill>
                <a:latin typeface="Arimo" pitchFamily="34" charset="0"/>
                <a:ea typeface="Arimo" pitchFamily="34" charset="-122"/>
                <a:cs typeface="Arimo" pitchFamily="34" charset="-120"/>
              </a:rPr>
              <a:t>14</a:t>
            </a:r>
            <a:endParaRPr lang="en-US" sz="3100" dirty="0"/>
          </a:p>
        </p:txBody>
      </p:sp>
      <p:sp>
        <p:nvSpPr>
          <p:cNvPr id="11" name="Text 9"/>
          <p:cNvSpPr/>
          <p:nvPr/>
        </p:nvSpPr>
        <p:spPr>
          <a:xfrm>
            <a:off x="2889504" y="1984248"/>
            <a:ext cx="1600200" cy="502920"/>
          </a:xfrm>
          <a:prstGeom prst="rect">
            <a:avLst/>
          </a:prstGeom>
          <a:noFill/>
          <a:ln/>
        </p:spPr>
        <p:txBody>
          <a:bodyPr wrap="square" lIns="0" tIns="0" rIns="0" bIns="0" rtlCol="0" anchor="ctr">
            <a:normAutofit/>
          </a:bodyPr>
          <a:lstStyle/>
          <a:p>
            <a:pPr algn="ctr" indent="0" marL="0">
              <a:buNone/>
            </a:pPr>
            <a:r>
              <a:rPr lang="en-US" sz="1250" dirty="0">
                <a:solidFill>
                  <a:srgbClr val="4B5563"/>
                </a:solidFill>
                <a:latin typeface="Arimo" pitchFamily="34" charset="0"/>
                <a:ea typeface="Arimo" pitchFamily="34" charset="-122"/>
                <a:cs typeface="Arimo" pitchFamily="34" charset="-120"/>
              </a:rPr>
              <a:t>unique approved</a:t>
            </a:r>
            <a:endParaRPr lang="en-US" sz="1250" dirty="0"/>
          </a:p>
          <a:p>
            <a:pPr algn="ctr" indent="0" marL="0">
              <a:buNone/>
            </a:pPr>
            <a:r>
              <a:rPr lang="en-US" sz="1250" dirty="0">
                <a:solidFill>
                  <a:srgbClr val="4B5563"/>
                </a:solidFill>
                <a:latin typeface="Arimo" pitchFamily="34" charset="0"/>
                <a:ea typeface="Arimo" pitchFamily="34" charset="-122"/>
                <a:cs typeface="Arimo" pitchFamily="34" charset="-120"/>
              </a:rPr>
              <a:t>ChEMBL parent drugs</a:t>
            </a:r>
            <a:endParaRPr lang="en-US" sz="1250" dirty="0"/>
          </a:p>
        </p:txBody>
      </p:sp>
      <p:sp>
        <p:nvSpPr>
          <p:cNvPr id="12" name="Shape 10"/>
          <p:cNvSpPr/>
          <p:nvPr/>
        </p:nvSpPr>
        <p:spPr>
          <a:xfrm>
            <a:off x="4910328" y="1371600"/>
            <a:ext cx="1874520" cy="1417320"/>
          </a:xfrm>
          <a:prstGeom prst="roundRect">
            <a:avLst>
              <a:gd name="adj" fmla="val 5161"/>
            </a:avLst>
          </a:prstGeom>
          <a:solidFill>
            <a:srgbClr val="FFFFFF"/>
          </a:solidFill>
          <a:ln w="12700">
            <a:solidFill>
              <a:srgbClr val="D1D5DB"/>
            </a:solidFill>
            <a:prstDash val="solid"/>
          </a:ln>
        </p:spPr>
        <p:txBody>
          <a:bodyPr/>
          <a:p/>
        </p:txBody>
      </p:sp>
      <p:sp>
        <p:nvSpPr>
          <p:cNvPr id="13" name="Text 11"/>
          <p:cNvSpPr/>
          <p:nvPr/>
        </p:nvSpPr>
        <p:spPr>
          <a:xfrm>
            <a:off x="5020056" y="1536192"/>
            <a:ext cx="1645920" cy="438912"/>
          </a:xfrm>
          <a:prstGeom prst="rect">
            <a:avLst/>
          </a:prstGeom>
          <a:noFill/>
          <a:ln/>
        </p:spPr>
        <p:txBody>
          <a:bodyPr wrap="square" lIns="0" tIns="0" rIns="0" bIns="0" rtlCol="0" anchor="ctr">
            <a:normAutofit/>
          </a:bodyPr>
          <a:lstStyle/>
          <a:p>
            <a:pPr algn="ctr" indent="0" marL="0">
              <a:buNone/>
            </a:pPr>
            <a:r>
              <a:rPr lang="en-US" sz="3100" b="1" dirty="0">
                <a:solidFill>
                  <a:srgbClr val="111827"/>
                </a:solidFill>
                <a:latin typeface="Arimo" pitchFamily="34" charset="0"/>
                <a:ea typeface="Arimo" pitchFamily="34" charset="-122"/>
                <a:cs typeface="Arimo" pitchFamily="34" charset="-120"/>
              </a:rPr>
              <a:t>11</a:t>
            </a:r>
            <a:endParaRPr lang="en-US" sz="3100" dirty="0"/>
          </a:p>
        </p:txBody>
      </p:sp>
      <p:sp>
        <p:nvSpPr>
          <p:cNvPr id="14" name="Text 12"/>
          <p:cNvSpPr/>
          <p:nvPr/>
        </p:nvSpPr>
        <p:spPr>
          <a:xfrm>
            <a:off x="5047488" y="1984248"/>
            <a:ext cx="1600200" cy="502920"/>
          </a:xfrm>
          <a:prstGeom prst="rect">
            <a:avLst/>
          </a:prstGeom>
          <a:noFill/>
          <a:ln/>
        </p:spPr>
        <p:txBody>
          <a:bodyPr wrap="square" lIns="0" tIns="0" rIns="0" bIns="0" rtlCol="0" anchor="ctr">
            <a:normAutofit/>
          </a:bodyPr>
          <a:lstStyle/>
          <a:p>
            <a:pPr algn="ctr" indent="0" marL="0">
              <a:buNone/>
            </a:pPr>
            <a:r>
              <a:rPr lang="en-US" sz="1250" dirty="0">
                <a:solidFill>
                  <a:srgbClr val="4B5563"/>
                </a:solidFill>
                <a:latin typeface="Arimo" pitchFamily="34" charset="0"/>
                <a:ea typeface="Arimo" pitchFamily="34" charset="-122"/>
                <a:cs typeface="Arimo" pitchFamily="34" charset="-120"/>
              </a:rPr>
              <a:t>approved DrugCentral</a:t>
            </a:r>
            <a:endParaRPr lang="en-US" sz="1250" dirty="0"/>
          </a:p>
          <a:p>
            <a:pPr algn="ctr" indent="0" marL="0">
              <a:buNone/>
            </a:pPr>
            <a:r>
              <a:rPr lang="en-US" sz="1250" dirty="0">
                <a:solidFill>
                  <a:srgbClr val="4B5563"/>
                </a:solidFill>
                <a:latin typeface="Arimo" pitchFamily="34" charset="0"/>
                <a:ea typeface="Arimo" pitchFamily="34" charset="-122"/>
                <a:cs typeface="Arimo" pitchFamily="34" charset="-120"/>
              </a:rPr>
              <a:t>structures</a:t>
            </a:r>
            <a:endParaRPr lang="en-US" sz="1250" dirty="0"/>
          </a:p>
        </p:txBody>
      </p:sp>
      <p:sp>
        <p:nvSpPr>
          <p:cNvPr id="15" name="Shape 13"/>
          <p:cNvSpPr/>
          <p:nvPr/>
        </p:nvSpPr>
        <p:spPr>
          <a:xfrm>
            <a:off x="7269480" y="1371600"/>
            <a:ext cx="4352544" cy="1417320"/>
          </a:xfrm>
          <a:prstGeom prst="roundRect">
            <a:avLst>
              <a:gd name="adj" fmla="val 5161"/>
            </a:avLst>
          </a:prstGeom>
          <a:solidFill>
            <a:srgbClr val="F0FDF4"/>
          </a:solidFill>
          <a:ln w="12700">
            <a:solidFill>
              <a:srgbClr val="BBF7D0"/>
            </a:solidFill>
            <a:prstDash val="solid"/>
          </a:ln>
        </p:spPr>
        <p:txBody>
          <a:bodyPr/>
          <a:p/>
        </p:txBody>
      </p:sp>
      <p:sp>
        <p:nvSpPr>
          <p:cNvPr id="16" name="Text 14"/>
          <p:cNvSpPr/>
          <p:nvPr/>
        </p:nvSpPr>
        <p:spPr>
          <a:xfrm>
            <a:off x="7534656" y="1572768"/>
            <a:ext cx="3803904" cy="256032"/>
          </a:xfrm>
          <a:prstGeom prst="rect">
            <a:avLst/>
          </a:prstGeom>
          <a:noFill/>
          <a:ln/>
        </p:spPr>
        <p:txBody>
          <a:bodyPr wrap="square" lIns="0" tIns="0" rIns="0" bIns="0" rtlCol="0" anchor="ctr">
            <a:normAutofit/>
          </a:bodyPr>
          <a:lstStyle/>
          <a:p>
            <a:r>
              <a:t>NO NUMERICAL WINNER</a:t>
            </a:r>
          </a:p>
        </p:txBody>
      </p:sp>
      <p:sp>
        <p:nvSpPr>
          <p:cNvPr id="17" name="Text 15"/>
          <p:cNvSpPr/>
          <p:nvPr/>
        </p:nvSpPr>
        <p:spPr>
          <a:xfrm>
            <a:off x="7452360" y="2002536"/>
            <a:ext cx="3950208" cy="310896"/>
          </a:xfrm>
          <a:prstGeom prst="rect">
            <a:avLst/>
          </a:prstGeom>
          <a:noFill/>
          <a:ln/>
        </p:spPr>
        <p:txBody>
          <a:bodyPr wrap="square" lIns="0" tIns="0" rIns="0" bIns="0" rtlCol="0" anchor="ctr">
            <a:normAutofit/>
          </a:bodyPr>
          <a:lstStyle/>
          <a:p>
            <a:r>
              <a:t>coverage is audited; direction is adjudicated</a:t>
            </a:r>
          </a:p>
        </p:txBody>
      </p:sp>
      <p:sp>
        <p:nvSpPr>
          <p:cNvPr id="18" name="Shape 16"/>
          <p:cNvSpPr/>
          <p:nvPr/>
        </p:nvSpPr>
        <p:spPr>
          <a:xfrm>
            <a:off x="594360" y="3218688"/>
            <a:ext cx="5422392" cy="2240280"/>
          </a:xfrm>
          <a:prstGeom prst="roundRect">
            <a:avLst>
              <a:gd name="adj" fmla="val 3265"/>
            </a:avLst>
          </a:prstGeom>
          <a:solidFill>
            <a:srgbClr val="FEF2F2"/>
          </a:solidFill>
          <a:ln w="12700">
            <a:solidFill>
              <a:srgbClr val="FECACA"/>
            </a:solidFill>
            <a:prstDash val="solid"/>
          </a:ln>
        </p:spPr>
      </p:sp>
      <p:sp>
        <p:nvSpPr>
          <p:cNvPr id="19" name="Text 17"/>
          <p:cNvSpPr/>
          <p:nvPr/>
        </p:nvSpPr>
        <p:spPr>
          <a:xfrm>
            <a:off x="868680" y="3493008"/>
            <a:ext cx="4800600" cy="310896"/>
          </a:xfrm>
          <a:prstGeom prst="rect">
            <a:avLst/>
          </a:prstGeom>
          <a:noFill/>
          <a:ln/>
        </p:spPr>
        <p:txBody>
          <a:bodyPr wrap="square" lIns="0" tIns="0" rIns="0" bIns="0" rtlCol="0" anchor="ctr">
            <a:normAutofit/>
          </a:bodyPr>
          <a:lstStyle/>
          <a:p>
            <a:pPr algn="l" indent="0" marL="0">
              <a:buNone/>
            </a:pPr>
            <a:r>
              <a:rPr lang="en-US" sz="1900" b="1" dirty="0">
                <a:solidFill>
                  <a:srgbClr val="B91C1C"/>
                </a:solidFill>
                <a:latin typeface="Arimo" pitchFamily="34" charset="0"/>
                <a:ea typeface="Arimo" pitchFamily="34" charset="-122"/>
                <a:cs typeface="Arimo" pitchFamily="34" charset="-120"/>
              </a:rPr>
              <a:t>Desired rescue axes remain sparse</a:t>
            </a:r>
            <a:endParaRPr lang="en-US" sz="1900" dirty="0"/>
          </a:p>
        </p:txBody>
      </p:sp>
      <p:sp>
        <p:nvSpPr>
          <p:cNvPr id="20" name="Text 18"/>
          <p:cNvSpPr/>
          <p:nvPr/>
        </p:nvSpPr>
        <p:spPr>
          <a:xfrm>
            <a:off x="914400" y="3977640"/>
            <a:ext cx="1188720" cy="274320"/>
          </a:xfrm>
          <a:prstGeom prst="rect">
            <a:avLst/>
          </a:prstGeom>
          <a:noFill/>
          <a:ln/>
        </p:spPr>
        <p:txBody>
          <a:bodyPr wrap="square" lIns="0" tIns="0" rIns="0" bIns="0" rtlCol="0" anchor="ctr">
            <a:normAutofit/>
          </a:bodyPr>
          <a:lstStyle/>
          <a:p>
            <a:pPr algn="l" indent="0" marL="0">
              <a:buNone/>
            </a:pPr>
            <a:r>
              <a:rPr lang="en-US" sz="1700" b="1" dirty="0">
                <a:solidFill>
                  <a:srgbClr val="111827"/>
                </a:solidFill>
                <a:latin typeface="Arimo" pitchFamily="34" charset="0"/>
                <a:ea typeface="Arimo" pitchFamily="34" charset="-122"/>
                <a:cs typeface="Arimo" pitchFamily="34" charset="-120"/>
              </a:rPr>
              <a:t>HSF1</a:t>
            </a:r>
            <a:endParaRPr lang="en-US" sz="1700" dirty="0"/>
          </a:p>
        </p:txBody>
      </p:sp>
      <p:sp>
        <p:nvSpPr>
          <p:cNvPr id="21" name="Text 19"/>
          <p:cNvSpPr/>
          <p:nvPr/>
        </p:nvSpPr>
        <p:spPr>
          <a:xfrm>
            <a:off x="2240280" y="3977640"/>
            <a:ext cx="1097280" cy="274320"/>
          </a:xfrm>
          <a:prstGeom prst="rect">
            <a:avLst/>
          </a:prstGeom>
          <a:noFill/>
          <a:ln/>
        </p:spPr>
        <p:txBody>
          <a:bodyPr wrap="square" lIns="0" tIns="0" rIns="0" bIns="0" rtlCol="0" anchor="ctr">
            <a:normAutofit/>
          </a:bodyPr>
          <a:lstStyle/>
          <a:p>
            <a:pPr algn="l" indent="0" marL="0">
              <a:buNone/>
            </a:pPr>
            <a:r>
              <a:rPr lang="en-US" sz="1700" b="1" dirty="0">
                <a:solidFill>
                  <a:srgbClr val="B91C1C"/>
                </a:solidFill>
                <a:latin typeface="Arimo" pitchFamily="34" charset="0"/>
                <a:ea typeface="Arimo" pitchFamily="34" charset="-122"/>
                <a:cs typeface="Arimo" pitchFamily="34" charset="-120"/>
              </a:rPr>
              <a:t>0 / 0</a:t>
            </a:r>
            <a:endParaRPr lang="en-US" sz="1700" dirty="0"/>
          </a:p>
        </p:txBody>
      </p:sp>
      <p:sp>
        <p:nvSpPr>
          <p:cNvPr id="22" name="Text 20"/>
          <p:cNvSpPr/>
          <p:nvPr/>
        </p:nvSpPr>
        <p:spPr>
          <a:xfrm>
            <a:off x="3319272" y="3977640"/>
            <a:ext cx="2011680" cy="274320"/>
          </a:xfrm>
          <a:prstGeom prst="rect">
            <a:avLst/>
          </a:prstGeom>
          <a:noFill/>
          <a:ln/>
        </p:spPr>
        <p:txBody>
          <a:bodyPr wrap="square" lIns="0" tIns="0" rIns="0" bIns="0" rtlCol="0" anchor="ctr">
            <a:normAutofit/>
          </a:bodyPr>
          <a:lstStyle/>
          <a:p>
            <a:pPr algn="l" indent="0" marL="0">
              <a:buNone/>
            </a:pPr>
            <a:r>
              <a:rPr lang="en-US" sz="1250" dirty="0">
                <a:solidFill>
                  <a:srgbClr val="4B5563"/>
                </a:solidFill>
                <a:latin typeface="Arimo" pitchFamily="34" charset="0"/>
                <a:ea typeface="Arimo" pitchFamily="34" charset="-122"/>
                <a:cs typeface="Arimo" pitchFamily="34" charset="-120"/>
              </a:rPr>
              <a:t>ChEMBL / DrugCentral</a:t>
            </a:r>
            <a:endParaRPr lang="en-US" sz="1250" dirty="0"/>
          </a:p>
        </p:txBody>
      </p:sp>
      <p:sp>
        <p:nvSpPr>
          <p:cNvPr id="23" name="Text 21"/>
          <p:cNvSpPr/>
          <p:nvPr/>
        </p:nvSpPr>
        <p:spPr>
          <a:xfrm>
            <a:off x="914400" y="4398264"/>
            <a:ext cx="1188720" cy="274320"/>
          </a:xfrm>
          <a:prstGeom prst="rect">
            <a:avLst/>
          </a:prstGeom>
          <a:noFill/>
          <a:ln/>
        </p:spPr>
        <p:txBody>
          <a:bodyPr wrap="square" lIns="0" tIns="0" rIns="0" bIns="0" rtlCol="0" anchor="ctr">
            <a:normAutofit/>
          </a:bodyPr>
          <a:lstStyle/>
          <a:p>
            <a:pPr algn="l" indent="0" marL="0">
              <a:buNone/>
            </a:pPr>
            <a:r>
              <a:rPr lang="en-US" sz="1700" b="1" dirty="0">
                <a:solidFill>
                  <a:srgbClr val="111827"/>
                </a:solidFill>
                <a:latin typeface="Arimo" pitchFamily="34" charset="0"/>
                <a:ea typeface="Arimo" pitchFamily="34" charset="-122"/>
                <a:cs typeface="Arimo" pitchFamily="34" charset="-120"/>
              </a:rPr>
              <a:t>SIRT2</a:t>
            </a:r>
            <a:endParaRPr lang="en-US" sz="1700" dirty="0"/>
          </a:p>
        </p:txBody>
      </p:sp>
      <p:sp>
        <p:nvSpPr>
          <p:cNvPr id="24" name="Text 22"/>
          <p:cNvSpPr/>
          <p:nvPr/>
        </p:nvSpPr>
        <p:spPr>
          <a:xfrm>
            <a:off x="2240280" y="4398264"/>
            <a:ext cx="1097280" cy="274320"/>
          </a:xfrm>
          <a:prstGeom prst="rect">
            <a:avLst/>
          </a:prstGeom>
          <a:noFill/>
          <a:ln/>
        </p:spPr>
        <p:txBody>
          <a:bodyPr wrap="square" lIns="0" tIns="0" rIns="0" bIns="0" rtlCol="0" anchor="ctr">
            <a:normAutofit/>
          </a:bodyPr>
          <a:lstStyle/>
          <a:p>
            <a:pPr algn="l" indent="0" marL="0">
              <a:buNone/>
            </a:pPr>
            <a:r>
              <a:rPr lang="en-US" sz="1700" b="1" dirty="0">
                <a:solidFill>
                  <a:srgbClr val="B91C1C"/>
                </a:solidFill>
                <a:latin typeface="Arimo" pitchFamily="34" charset="0"/>
                <a:ea typeface="Arimo" pitchFamily="34" charset="-122"/>
                <a:cs typeface="Arimo" pitchFamily="34" charset="-120"/>
              </a:rPr>
              <a:t>0 / 0</a:t>
            </a:r>
            <a:endParaRPr lang="en-US" sz="1700" dirty="0"/>
          </a:p>
        </p:txBody>
      </p:sp>
      <p:sp>
        <p:nvSpPr>
          <p:cNvPr id="25" name="Text 23"/>
          <p:cNvSpPr/>
          <p:nvPr/>
        </p:nvSpPr>
        <p:spPr>
          <a:xfrm>
            <a:off x="3319272" y="4398264"/>
            <a:ext cx="2011680" cy="274320"/>
          </a:xfrm>
          <a:prstGeom prst="rect">
            <a:avLst/>
          </a:prstGeom>
          <a:noFill/>
          <a:ln/>
        </p:spPr>
        <p:txBody>
          <a:bodyPr wrap="square" lIns="0" tIns="0" rIns="0" bIns="0" rtlCol="0" anchor="ctr">
            <a:normAutofit/>
          </a:bodyPr>
          <a:lstStyle/>
          <a:p>
            <a:pPr algn="l" indent="0" marL="0">
              <a:buNone/>
            </a:pPr>
            <a:r>
              <a:rPr lang="en-US" sz="1250" dirty="0">
                <a:solidFill>
                  <a:srgbClr val="4B5563"/>
                </a:solidFill>
                <a:latin typeface="Arimo" pitchFamily="34" charset="0"/>
                <a:ea typeface="Arimo" pitchFamily="34" charset="-122"/>
                <a:cs typeface="Arimo" pitchFamily="34" charset="-120"/>
              </a:rPr>
              <a:t>ChEMBL / DrugCentral</a:t>
            </a:r>
            <a:endParaRPr lang="en-US" sz="1250" dirty="0"/>
          </a:p>
        </p:txBody>
      </p:sp>
      <p:sp>
        <p:nvSpPr>
          <p:cNvPr id="26" name="Text 24"/>
          <p:cNvSpPr/>
          <p:nvPr/>
        </p:nvSpPr>
        <p:spPr>
          <a:xfrm>
            <a:off x="914400" y="4818888"/>
            <a:ext cx="1188720" cy="274320"/>
          </a:xfrm>
          <a:prstGeom prst="rect">
            <a:avLst/>
          </a:prstGeom>
          <a:noFill/>
          <a:ln/>
        </p:spPr>
        <p:txBody>
          <a:bodyPr wrap="square" lIns="0" tIns="0" rIns="0" bIns="0" rtlCol="0" anchor="ctr">
            <a:normAutofit/>
          </a:bodyPr>
          <a:lstStyle/>
          <a:p>
            <a:pPr algn="l" indent="0" marL="0">
              <a:buNone/>
            </a:pPr>
            <a:r>
              <a:rPr lang="en-US" sz="1700" b="1" dirty="0">
                <a:solidFill>
                  <a:srgbClr val="111827"/>
                </a:solidFill>
                <a:latin typeface="Arimo" pitchFamily="34" charset="0"/>
                <a:ea typeface="Arimo" pitchFamily="34" charset="-122"/>
                <a:cs typeface="Arimo" pitchFamily="34" charset="-120"/>
              </a:rPr>
              <a:t>PPP2CA</a:t>
            </a:r>
            <a:endParaRPr lang="en-US" sz="1700" dirty="0"/>
          </a:p>
        </p:txBody>
      </p:sp>
      <p:sp>
        <p:nvSpPr>
          <p:cNvPr id="27" name="Text 25"/>
          <p:cNvSpPr/>
          <p:nvPr/>
        </p:nvSpPr>
        <p:spPr>
          <a:xfrm>
            <a:off x="2240280" y="4818888"/>
            <a:ext cx="1097280" cy="274320"/>
          </a:xfrm>
          <a:prstGeom prst="rect">
            <a:avLst/>
          </a:prstGeom>
          <a:noFill/>
          <a:ln/>
        </p:spPr>
        <p:txBody>
          <a:bodyPr wrap="square" lIns="0" tIns="0" rIns="0" bIns="0" rtlCol="0" anchor="ctr">
            <a:normAutofit/>
          </a:bodyPr>
          <a:lstStyle/>
          <a:p>
            <a:pPr algn="l" indent="0" marL="0">
              <a:buNone/>
            </a:pPr>
            <a:r>
              <a:rPr lang="en-US" sz="1700" b="1" dirty="0">
                <a:solidFill>
                  <a:srgbClr val="B91C1C"/>
                </a:solidFill>
                <a:latin typeface="Arimo" pitchFamily="34" charset="0"/>
                <a:ea typeface="Arimo" pitchFamily="34" charset="-122"/>
                <a:cs typeface="Arimo" pitchFamily="34" charset="-120"/>
              </a:rPr>
              <a:t>0 / 0</a:t>
            </a:r>
            <a:endParaRPr lang="en-US" sz="1700" dirty="0"/>
          </a:p>
        </p:txBody>
      </p:sp>
      <p:sp>
        <p:nvSpPr>
          <p:cNvPr id="28" name="Text 26"/>
          <p:cNvSpPr/>
          <p:nvPr/>
        </p:nvSpPr>
        <p:spPr>
          <a:xfrm>
            <a:off x="3319272" y="4818888"/>
            <a:ext cx="2011680" cy="274320"/>
          </a:xfrm>
          <a:prstGeom prst="rect">
            <a:avLst/>
          </a:prstGeom>
          <a:noFill/>
          <a:ln/>
        </p:spPr>
        <p:txBody>
          <a:bodyPr wrap="square" lIns="0" tIns="0" rIns="0" bIns="0" rtlCol="0" anchor="ctr">
            <a:normAutofit/>
          </a:bodyPr>
          <a:lstStyle/>
          <a:p>
            <a:pPr algn="l" indent="0" marL="0">
              <a:buNone/>
            </a:pPr>
            <a:r>
              <a:rPr lang="en-US" sz="1250" dirty="0">
                <a:solidFill>
                  <a:srgbClr val="4B5563"/>
                </a:solidFill>
                <a:latin typeface="Arimo" pitchFamily="34" charset="0"/>
                <a:ea typeface="Arimo" pitchFamily="34" charset="-122"/>
                <a:cs typeface="Arimo" pitchFamily="34" charset="-120"/>
              </a:rPr>
              <a:t>ChEMBL / DrugCentral</a:t>
            </a:r>
            <a:endParaRPr lang="en-US" sz="1250" dirty="0"/>
          </a:p>
        </p:txBody>
      </p:sp>
      <p:sp>
        <p:nvSpPr>
          <p:cNvPr id="29" name="Shape 27"/>
          <p:cNvSpPr/>
          <p:nvPr/>
        </p:nvSpPr>
        <p:spPr>
          <a:xfrm>
            <a:off x="6254496" y="3218688"/>
            <a:ext cx="5367528" cy="2240280"/>
          </a:xfrm>
          <a:prstGeom prst="roundRect">
            <a:avLst>
              <a:gd name="adj" fmla="val 3265"/>
            </a:avLst>
          </a:prstGeom>
          <a:solidFill>
            <a:srgbClr val="EFF6FF"/>
          </a:solidFill>
          <a:ln w="12700">
            <a:solidFill>
              <a:srgbClr val="BFDBFE"/>
            </a:solidFill>
            <a:prstDash val="solid"/>
          </a:ln>
        </p:spPr>
      </p:sp>
      <p:sp>
        <p:nvSpPr>
          <p:cNvPr id="30" name="Text 28"/>
          <p:cNvSpPr/>
          <p:nvPr/>
        </p:nvSpPr>
        <p:spPr>
          <a:xfrm>
            <a:off x="6510528" y="3493008"/>
            <a:ext cx="4846320" cy="310896"/>
          </a:xfrm>
          <a:prstGeom prst="rect">
            <a:avLst/>
          </a:prstGeom>
          <a:noFill/>
          <a:ln/>
        </p:spPr>
        <p:txBody>
          <a:bodyPr wrap="square" lIns="0" tIns="0" rIns="0" bIns="0" rtlCol="0" anchor="ctr">
            <a:normAutofit/>
          </a:bodyPr>
          <a:lstStyle/>
          <a:p>
            <a:pPr algn="l" indent="0" marL="0">
              <a:buNone/>
            </a:pPr>
            <a:r>
              <a:rPr lang="en-US" sz="1850" b="1" dirty="0">
                <a:solidFill>
                  <a:srgbClr val="2563EB"/>
                </a:solidFill>
                <a:latin typeface="Arimo" pitchFamily="34" charset="0"/>
                <a:ea typeface="Arimo" pitchFamily="34" charset="-122"/>
                <a:cs typeface="Arimo" pitchFamily="34" charset="-120"/>
              </a:rPr>
              <a:t>Direct / downstream targets are well represented</a:t>
            </a:r>
            <a:endParaRPr lang="en-US" sz="1850" dirty="0"/>
          </a:p>
        </p:txBody>
      </p:sp>
      <p:sp>
        <p:nvSpPr>
          <p:cNvPr id="31" name="Text 29"/>
          <p:cNvSpPr/>
          <p:nvPr/>
        </p:nvSpPr>
        <p:spPr>
          <a:xfrm>
            <a:off x="6565392" y="3941064"/>
            <a:ext cx="1143000" cy="256032"/>
          </a:xfrm>
          <a:prstGeom prst="rect">
            <a:avLst/>
          </a:prstGeom>
          <a:noFill/>
          <a:ln/>
        </p:spPr>
        <p:txBody>
          <a:bodyPr wrap="square" lIns="0" tIns="0" rIns="0" bIns="0" rtlCol="0" anchor="ctr">
            <a:normAutofit/>
          </a:bodyPr>
          <a:lstStyle/>
          <a:p>
            <a:pPr algn="l" indent="0" marL="0">
              <a:buNone/>
            </a:pPr>
            <a:r>
              <a:rPr lang="en-US" sz="1650" b="1" dirty="0">
                <a:solidFill>
                  <a:srgbClr val="111827"/>
                </a:solidFill>
                <a:latin typeface="Arimo" pitchFamily="34" charset="0"/>
                <a:ea typeface="Arimo" pitchFamily="34" charset="-122"/>
                <a:cs typeface="Arimo" pitchFamily="34" charset="-120"/>
              </a:rPr>
              <a:t>PSMB5</a:t>
            </a:r>
            <a:endParaRPr lang="en-US" sz="1650" dirty="0"/>
          </a:p>
        </p:txBody>
      </p:sp>
      <p:sp>
        <p:nvSpPr>
          <p:cNvPr id="32" name="Text 30"/>
          <p:cNvSpPr/>
          <p:nvPr/>
        </p:nvSpPr>
        <p:spPr>
          <a:xfrm>
            <a:off x="7754112" y="3941064"/>
            <a:ext cx="960120" cy="256032"/>
          </a:xfrm>
          <a:prstGeom prst="rect">
            <a:avLst/>
          </a:prstGeom>
          <a:noFill/>
          <a:ln/>
        </p:spPr>
        <p:txBody>
          <a:bodyPr wrap="square" lIns="0" tIns="0" rIns="0" bIns="0" rtlCol="0" anchor="ctr">
            <a:normAutofit/>
          </a:bodyPr>
          <a:lstStyle/>
          <a:p>
            <a:pPr algn="l" indent="0" marL="0">
              <a:buNone/>
            </a:pPr>
            <a:r>
              <a:rPr lang="en-US" sz="1650" b="1" dirty="0">
                <a:solidFill>
                  <a:srgbClr val="2563EB"/>
                </a:solidFill>
                <a:latin typeface="Arimo" pitchFamily="34" charset="0"/>
                <a:ea typeface="Arimo" pitchFamily="34" charset="-122"/>
                <a:cs typeface="Arimo" pitchFamily="34" charset="-120"/>
              </a:rPr>
              <a:t>3 / 2</a:t>
            </a:r>
            <a:endParaRPr lang="en-US" sz="1650" dirty="0"/>
          </a:p>
        </p:txBody>
      </p:sp>
      <p:sp>
        <p:nvSpPr>
          <p:cNvPr id="33" name="Text 31"/>
          <p:cNvSpPr/>
          <p:nvPr/>
        </p:nvSpPr>
        <p:spPr>
          <a:xfrm>
            <a:off x="6565392" y="4297680"/>
            <a:ext cx="1143000" cy="256032"/>
          </a:xfrm>
          <a:prstGeom prst="rect">
            <a:avLst/>
          </a:prstGeom>
          <a:noFill/>
          <a:ln/>
        </p:spPr>
        <p:txBody>
          <a:bodyPr wrap="square" lIns="0" tIns="0" rIns="0" bIns="0" rtlCol="0" anchor="ctr">
            <a:normAutofit/>
          </a:bodyPr>
          <a:lstStyle/>
          <a:p>
            <a:pPr algn="l" indent="0" marL="0">
              <a:buNone/>
            </a:pPr>
            <a:r>
              <a:rPr lang="en-US" sz="1650" b="1" dirty="0">
                <a:solidFill>
                  <a:srgbClr val="111827"/>
                </a:solidFill>
                <a:latin typeface="Arimo" pitchFamily="34" charset="0"/>
                <a:ea typeface="Arimo" pitchFamily="34" charset="-122"/>
                <a:cs typeface="Arimo" pitchFamily="34" charset="-120"/>
              </a:rPr>
              <a:t>JAK1</a:t>
            </a:r>
            <a:endParaRPr lang="en-US" sz="1650" dirty="0"/>
          </a:p>
        </p:txBody>
      </p:sp>
      <p:sp>
        <p:nvSpPr>
          <p:cNvPr id="34" name="Text 32"/>
          <p:cNvSpPr/>
          <p:nvPr/>
        </p:nvSpPr>
        <p:spPr>
          <a:xfrm>
            <a:off x="7754112" y="4297680"/>
            <a:ext cx="960120" cy="256032"/>
          </a:xfrm>
          <a:prstGeom prst="rect">
            <a:avLst/>
          </a:prstGeom>
          <a:noFill/>
          <a:ln/>
        </p:spPr>
        <p:txBody>
          <a:bodyPr wrap="square" lIns="0" tIns="0" rIns="0" bIns="0" rtlCol="0" anchor="ctr">
            <a:normAutofit/>
          </a:bodyPr>
          <a:lstStyle/>
          <a:p>
            <a:pPr algn="l" indent="0" marL="0">
              <a:buNone/>
            </a:pPr>
            <a:r>
              <a:rPr lang="en-US" sz="1650" b="1" dirty="0">
                <a:solidFill>
                  <a:srgbClr val="2563EB"/>
                </a:solidFill>
                <a:latin typeface="Arimo" pitchFamily="34" charset="0"/>
                <a:ea typeface="Arimo" pitchFamily="34" charset="-122"/>
                <a:cs typeface="Arimo" pitchFamily="34" charset="-120"/>
              </a:rPr>
              <a:t>8 / 4</a:t>
            </a:r>
            <a:endParaRPr lang="en-US" sz="1650" dirty="0"/>
          </a:p>
        </p:txBody>
      </p:sp>
      <p:sp>
        <p:nvSpPr>
          <p:cNvPr id="35" name="Text 33"/>
          <p:cNvSpPr/>
          <p:nvPr/>
        </p:nvSpPr>
        <p:spPr>
          <a:xfrm>
            <a:off x="6565392" y="4654296"/>
            <a:ext cx="1143000" cy="256032"/>
          </a:xfrm>
          <a:prstGeom prst="rect">
            <a:avLst/>
          </a:prstGeom>
          <a:noFill/>
          <a:ln/>
        </p:spPr>
        <p:txBody>
          <a:bodyPr wrap="square" lIns="0" tIns="0" rIns="0" bIns="0" rtlCol="0" anchor="ctr">
            <a:normAutofit/>
          </a:bodyPr>
          <a:lstStyle/>
          <a:p>
            <a:pPr algn="l" indent="0" marL="0">
              <a:buNone/>
            </a:pPr>
            <a:r>
              <a:rPr lang="en-US" sz="1650" b="1" dirty="0">
                <a:solidFill>
                  <a:srgbClr val="111827"/>
                </a:solidFill>
                <a:latin typeface="Arimo" pitchFamily="34" charset="0"/>
                <a:ea typeface="Arimo" pitchFamily="34" charset="-122"/>
                <a:cs typeface="Arimo" pitchFamily="34" charset="-120"/>
              </a:rPr>
              <a:t>JAK2</a:t>
            </a:r>
            <a:endParaRPr lang="en-US" sz="1650" dirty="0"/>
          </a:p>
        </p:txBody>
      </p:sp>
      <p:sp>
        <p:nvSpPr>
          <p:cNvPr id="36" name="Text 34"/>
          <p:cNvSpPr/>
          <p:nvPr/>
        </p:nvSpPr>
        <p:spPr>
          <a:xfrm>
            <a:off x="7754112" y="4654296"/>
            <a:ext cx="960120" cy="256032"/>
          </a:xfrm>
          <a:prstGeom prst="rect">
            <a:avLst/>
          </a:prstGeom>
          <a:noFill/>
          <a:ln/>
        </p:spPr>
        <p:txBody>
          <a:bodyPr wrap="square" lIns="0" tIns="0" rIns="0" bIns="0" rtlCol="0" anchor="ctr">
            <a:normAutofit/>
          </a:bodyPr>
          <a:lstStyle/>
          <a:p>
            <a:pPr algn="l" indent="0" marL="0">
              <a:buNone/>
            </a:pPr>
            <a:r>
              <a:rPr lang="en-US" sz="1650" b="1" dirty="0">
                <a:solidFill>
                  <a:srgbClr val="2563EB"/>
                </a:solidFill>
                <a:latin typeface="Arimo" pitchFamily="34" charset="0"/>
                <a:ea typeface="Arimo" pitchFamily="34" charset="-122"/>
                <a:cs typeface="Arimo" pitchFamily="34" charset="-120"/>
              </a:rPr>
              <a:t>9 / 4</a:t>
            </a:r>
            <a:endParaRPr lang="en-US" sz="1650" dirty="0"/>
          </a:p>
        </p:txBody>
      </p:sp>
      <p:sp>
        <p:nvSpPr>
          <p:cNvPr id="37" name="Text 35"/>
          <p:cNvSpPr/>
          <p:nvPr/>
        </p:nvSpPr>
        <p:spPr>
          <a:xfrm>
            <a:off x="6565392" y="5010912"/>
            <a:ext cx="1143000" cy="256032"/>
          </a:xfrm>
          <a:prstGeom prst="rect">
            <a:avLst/>
          </a:prstGeom>
          <a:noFill/>
          <a:ln/>
        </p:spPr>
        <p:txBody>
          <a:bodyPr wrap="square" lIns="0" tIns="0" rIns="0" bIns="0" rtlCol="0" anchor="ctr">
            <a:normAutofit/>
          </a:bodyPr>
          <a:lstStyle/>
          <a:p>
            <a:pPr algn="l" indent="0" marL="0">
              <a:buNone/>
            </a:pPr>
            <a:r>
              <a:rPr lang="en-US" sz="1650" b="1" dirty="0">
                <a:solidFill>
                  <a:srgbClr val="111827"/>
                </a:solidFill>
                <a:latin typeface="Arimo" pitchFamily="34" charset="0"/>
                <a:ea typeface="Arimo" pitchFamily="34" charset="-122"/>
                <a:cs typeface="Arimo" pitchFamily="34" charset="-120"/>
              </a:rPr>
              <a:t>MTOR</a:t>
            </a:r>
            <a:endParaRPr lang="en-US" sz="1650" dirty="0"/>
          </a:p>
        </p:txBody>
      </p:sp>
      <p:sp>
        <p:nvSpPr>
          <p:cNvPr id="38" name="Text 36"/>
          <p:cNvSpPr/>
          <p:nvPr/>
        </p:nvSpPr>
        <p:spPr>
          <a:xfrm>
            <a:off x="7754112" y="5010912"/>
            <a:ext cx="960120" cy="256032"/>
          </a:xfrm>
          <a:prstGeom prst="rect">
            <a:avLst/>
          </a:prstGeom>
          <a:noFill/>
          <a:ln/>
        </p:spPr>
        <p:txBody>
          <a:bodyPr wrap="square" lIns="0" tIns="0" rIns="0" bIns="0" rtlCol="0" anchor="ctr">
            <a:normAutofit/>
          </a:bodyPr>
          <a:lstStyle/>
          <a:p>
            <a:pPr algn="l" indent="0" marL="0">
              <a:buNone/>
            </a:pPr>
            <a:r>
              <a:rPr lang="en-US" sz="1650" b="1" dirty="0">
                <a:solidFill>
                  <a:srgbClr val="2563EB"/>
                </a:solidFill>
                <a:latin typeface="Arimo" pitchFamily="34" charset="0"/>
                <a:ea typeface="Arimo" pitchFamily="34" charset="-122"/>
                <a:cs typeface="Arimo" pitchFamily="34" charset="-120"/>
              </a:rPr>
              <a:t>1 / 2</a:t>
            </a:r>
            <a:endParaRPr lang="en-US" sz="1650" dirty="0"/>
          </a:p>
        </p:txBody>
      </p:sp>
      <p:sp>
        <p:nvSpPr>
          <p:cNvPr id="39" name="Text 37"/>
          <p:cNvSpPr/>
          <p:nvPr/>
        </p:nvSpPr>
        <p:spPr>
          <a:xfrm>
            <a:off x="1024128" y="5833872"/>
            <a:ext cx="10241280" cy="347472"/>
          </a:xfrm>
          <a:prstGeom prst="rect">
            <a:avLst/>
          </a:prstGeom>
          <a:noFill/>
          <a:ln/>
        </p:spPr>
        <p:txBody>
          <a:bodyPr wrap="square" lIns="0" tIns="0" rIns="0" bIns="0" rtlCol="0" anchor="ctr">
            <a:normAutofit/>
          </a:bodyPr>
          <a:lstStyle/>
          <a:p>
            <a:pPr algn="ctr" indent="0" marL="0">
              <a:buNone/>
            </a:pPr>
            <a:r>
              <a:rPr lang="en-US" sz="1800" b="1" dirty="0">
                <a:solidFill>
                  <a:srgbClr val="111827"/>
                </a:solidFill>
                <a:latin typeface="Arimo" pitchFamily="34" charset="0"/>
                <a:ea typeface="Arimo" pitchFamily="34" charset="-122"/>
                <a:cs typeface="Arimo" pitchFamily="34" charset="-120"/>
              </a:rPr>
              <a:t>Lesson: annotation density is not therapeutic credibility.</a:t>
            </a:r>
            <a:endParaRPr lang="en-US" sz="1800" dirty="0"/>
          </a:p>
        </p:txBody>
      </p:sp>
      <p:sp>
        <p:nvSpPr>
          <p:cNvPr id="25" name="Slide Number Placeholder 0"/>
          <p:cNvSpPr>
            <a:spLocks noGrp="1"/>
          </p:cNvSpPr>
          <p:nvPr>
            <p:ph type="sldNum" sz="quarter" idx="4294967295"/>
          </p:nvPr>
        </p:nvSpPr>
        <p:spPr>
          <a:xfrm>
            <a:off x="11265408" y="6565392"/>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9CA3AF"/>
                </a:solidFill>
                <a:latin typeface="Arimo"/>
                <a:ea typeface="Arimo"/>
                <a:cs typeface="Arim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0744200" y="329184"/>
            <a:ext cx="941832" cy="292608"/>
          </a:xfrm>
          <a:prstGeom prst="roundRect">
            <a:avLst>
              <a:gd name="adj" fmla="val 18750"/>
            </a:avLst>
          </a:prstGeom>
          <a:solidFill>
            <a:srgbClr val="F3F4F6"/>
          </a:solidFill>
          <a:ln w="7620">
            <a:solidFill>
              <a:srgbClr val="D1D5DB"/>
            </a:solidFill>
            <a:prstDash val="solid"/>
          </a:ln>
        </p:spPr>
        <p:txBody>
          <a:bodyPr/>
          <a:p/>
        </p:txBody>
      </p:sp>
      <p:sp>
        <p:nvSpPr>
          <p:cNvPr id="3" name="Text 1"/>
          <p:cNvSpPr/>
          <p:nvPr/>
        </p:nvSpPr>
        <p:spPr>
          <a:xfrm>
            <a:off x="10762488" y="361188"/>
            <a:ext cx="905256" cy="173736"/>
          </a:xfrm>
          <a:prstGeom prst="rect">
            <a:avLst/>
          </a:prstGeom>
          <a:noFill/>
          <a:ln/>
        </p:spPr>
        <p:txBody>
          <a:bodyPr wrap="square" lIns="0" tIns="0" rIns="0" bIns="0" rtlCol="0" anchor="ctr">
            <a:normAutofit/>
          </a:bodyPr>
          <a:lstStyle/>
          <a:p>
            <a:r>
              <a:t>1:27-1:57</a:t>
            </a:r>
          </a:p>
        </p:txBody>
      </p:sp>
      <p:sp>
        <p:nvSpPr>
          <p:cNvPr id="4" name="Text 2"/>
          <p:cNvSpPr/>
          <p:nvPr/>
        </p:nvSpPr>
        <p:spPr>
          <a:xfrm>
            <a:off x="502920" y="329184"/>
            <a:ext cx="10012680" cy="502920"/>
          </a:xfrm>
          <a:prstGeom prst="rect">
            <a:avLst/>
          </a:prstGeom>
          <a:noFill/>
          <a:ln/>
        </p:spPr>
        <p:txBody>
          <a:bodyPr wrap="square" lIns="0" tIns="0" rIns="0" bIns="0" rtlCol="0" anchor="ctr">
            <a:normAutofit/>
          </a:bodyPr>
          <a:lstStyle/>
          <a:p>
            <a:pPr algn="l" indent="0" marL="0">
              <a:buNone/>
            </a:pPr>
            <a:r>
              <a:rPr lang="en-US" sz="2700" b="1" dirty="0">
                <a:solidFill>
                  <a:srgbClr val="111827"/>
                </a:solidFill>
                <a:latin typeface="Arimo" pitchFamily="34" charset="0"/>
                <a:ea typeface="Arimo" pitchFamily="34" charset="-122"/>
                <a:cs typeface="Arimo" pitchFamily="34" charset="-120"/>
              </a:rPr>
              <a:t>Approval is not enough</a:t>
            </a:r>
            <a:endParaRPr lang="en-US" sz="2700" dirty="0"/>
          </a:p>
        </p:txBody>
      </p:sp>
      <p:sp>
        <p:nvSpPr>
          <p:cNvPr id="5" name="Text 3"/>
          <p:cNvSpPr/>
          <p:nvPr/>
        </p:nvSpPr>
        <p:spPr>
          <a:xfrm>
            <a:off x="502920" y="841248"/>
            <a:ext cx="10012680" cy="310896"/>
          </a:xfrm>
          <a:prstGeom prst="rect">
            <a:avLst/>
          </a:prstGeom>
          <a:noFill/>
          <a:ln/>
        </p:spPr>
        <p:txBody>
          <a:bodyPr wrap="square" lIns="0" tIns="0" rIns="0" bIns="0" rtlCol="0" anchor="ctr">
            <a:normAutofit/>
          </a:bodyPr>
          <a:lstStyle/>
          <a:p>
            <a:pPr algn="l" indent="0" marL="0">
              <a:buNone/>
            </a:pPr>
            <a:r>
              <a:rPr lang="en-US" sz="1350" dirty="0">
                <a:solidFill>
                  <a:srgbClr val="4B5563"/>
                </a:solidFill>
                <a:latin typeface="Arimo" pitchFamily="34" charset="0"/>
                <a:ea typeface="Arimo" pitchFamily="34" charset="-122"/>
                <a:cs typeface="Arimo" pitchFamily="34" charset="-120"/>
              </a:rPr>
              <a:t>Regulatory status plus exposure plausibility decide whether testing is credible.</a:t>
            </a:r>
            <a:endParaRPr lang="en-US" sz="1350" dirty="0"/>
          </a:p>
        </p:txBody>
      </p:sp>
      <p:sp>
        <p:nvSpPr>
          <p:cNvPr id="6" name="Shape 4"/>
          <p:cNvSpPr/>
          <p:nvPr/>
        </p:nvSpPr>
        <p:spPr>
          <a:xfrm>
            <a:off x="685800" y="1261872"/>
            <a:ext cx="4681728" cy="932688"/>
          </a:xfrm>
          <a:prstGeom prst="roundRect">
            <a:avLst>
              <a:gd name="adj" fmla="val 7843"/>
            </a:avLst>
          </a:prstGeom>
          <a:solidFill>
            <a:srgbClr val="FFFFFF"/>
          </a:solidFill>
          <a:ln w="12700">
            <a:solidFill>
              <a:srgbClr val="D1D5DB"/>
            </a:solidFill>
            <a:prstDash val="solid"/>
          </a:ln>
        </p:spPr>
      </p:sp>
      <p:sp>
        <p:nvSpPr>
          <p:cNvPr id="7" name="Text 5"/>
          <p:cNvSpPr/>
          <p:nvPr/>
        </p:nvSpPr>
        <p:spPr>
          <a:xfrm>
            <a:off x="960120" y="1444752"/>
            <a:ext cx="502920" cy="274320"/>
          </a:xfrm>
          <a:prstGeom prst="rect">
            <a:avLst/>
          </a:prstGeom>
          <a:noFill/>
          <a:ln/>
        </p:spPr>
        <p:txBody>
          <a:bodyPr wrap="square" lIns="0" tIns="0" rIns="0" bIns="0" rtlCol="0" anchor="ctr">
            <a:normAutofit/>
          </a:bodyPr>
          <a:lstStyle/>
          <a:p>
            <a:pPr algn="ctr" indent="0" marL="0">
              <a:buNone/>
            </a:pPr>
            <a:r>
              <a:rPr lang="en-US" sz="1700" b="1" dirty="0">
                <a:solidFill>
                  <a:srgbClr val="2563EB"/>
                </a:solidFill>
                <a:latin typeface="Arimo" pitchFamily="34" charset="0"/>
                <a:ea typeface="Arimo" pitchFamily="34" charset="-122"/>
                <a:cs typeface="Arimo" pitchFamily="34" charset="-120"/>
              </a:rPr>
              <a:t>US</a:t>
            </a:r>
            <a:endParaRPr lang="en-US" sz="1700" dirty="0"/>
          </a:p>
        </p:txBody>
      </p:sp>
      <p:sp>
        <p:nvSpPr>
          <p:cNvPr id="8" name="Text 6"/>
          <p:cNvSpPr/>
          <p:nvPr/>
        </p:nvSpPr>
        <p:spPr>
          <a:xfrm>
            <a:off x="1554480" y="1417320"/>
            <a:ext cx="3401568" cy="320040"/>
          </a:xfrm>
          <a:prstGeom prst="rect">
            <a:avLst/>
          </a:prstGeom>
          <a:noFill/>
          <a:ln/>
        </p:spPr>
        <p:txBody>
          <a:bodyPr wrap="square" lIns="0" tIns="0" rIns="0" bIns="0" rtlCol="0" anchor="ctr">
            <a:normAutofit/>
          </a:bodyPr>
          <a:lstStyle/>
          <a:p>
            <a:pPr algn="l" indent="0" marL="0">
              <a:buNone/>
            </a:pPr>
            <a:r>
              <a:rPr lang="en-US" sz="1800" b="1" dirty="0">
                <a:solidFill>
                  <a:srgbClr val="111827"/>
                </a:solidFill>
                <a:latin typeface="Arimo" pitchFamily="34" charset="0"/>
                <a:ea typeface="Arimo" pitchFamily="34" charset="-122"/>
                <a:cs typeface="Arimo" pitchFamily="34" charset="-120"/>
              </a:rPr>
              <a:t>FDA-approved in NPC</a:t>
            </a:r>
            <a:endParaRPr lang="en-US" sz="1800" dirty="0"/>
          </a:p>
        </p:txBody>
      </p:sp>
      <p:sp>
        <p:nvSpPr>
          <p:cNvPr id="9" name="Shape 7"/>
          <p:cNvSpPr/>
          <p:nvPr/>
        </p:nvSpPr>
        <p:spPr>
          <a:xfrm>
            <a:off x="5650992" y="1261872"/>
            <a:ext cx="5193792" cy="932688"/>
          </a:xfrm>
          <a:prstGeom prst="roundRect">
            <a:avLst>
              <a:gd name="adj" fmla="val 7843"/>
            </a:avLst>
          </a:prstGeom>
          <a:solidFill>
            <a:srgbClr val="FEF2F2"/>
          </a:solidFill>
          <a:ln w="12700">
            <a:solidFill>
              <a:srgbClr val="FECACA"/>
            </a:solidFill>
            <a:prstDash val="solid"/>
          </a:ln>
        </p:spPr>
      </p:sp>
      <p:sp>
        <p:nvSpPr>
          <p:cNvPr id="10" name="Text 8"/>
          <p:cNvSpPr/>
          <p:nvPr/>
        </p:nvSpPr>
        <p:spPr>
          <a:xfrm>
            <a:off x="5934456" y="1444752"/>
            <a:ext cx="502920" cy="274320"/>
          </a:xfrm>
          <a:prstGeom prst="rect">
            <a:avLst/>
          </a:prstGeom>
          <a:noFill/>
          <a:ln/>
        </p:spPr>
        <p:txBody>
          <a:bodyPr wrap="square" lIns="0" tIns="0" rIns="0" bIns="0" rtlCol="0" anchor="ctr">
            <a:normAutofit/>
          </a:bodyPr>
          <a:lstStyle/>
          <a:p>
            <a:pPr algn="ctr" indent="0" marL="0">
              <a:buNone/>
            </a:pPr>
            <a:r>
              <a:rPr lang="en-US" sz="1700" b="1" dirty="0">
                <a:solidFill>
                  <a:srgbClr val="B91C1C"/>
                </a:solidFill>
                <a:latin typeface="Arimo" pitchFamily="34" charset="0"/>
                <a:ea typeface="Arimo" pitchFamily="34" charset="-122"/>
                <a:cs typeface="Arimo" pitchFamily="34" charset="-120"/>
              </a:rPr>
              <a:t>EU</a:t>
            </a:r>
            <a:endParaRPr lang="en-US" sz="1700" dirty="0"/>
          </a:p>
        </p:txBody>
      </p:sp>
      <p:sp>
        <p:nvSpPr>
          <p:cNvPr id="11" name="Text 9"/>
          <p:cNvSpPr/>
          <p:nvPr/>
        </p:nvSpPr>
        <p:spPr>
          <a:xfrm>
            <a:off x="6528816" y="1362456"/>
            <a:ext cx="3977640" cy="438912"/>
          </a:xfrm>
          <a:prstGeom prst="rect">
            <a:avLst/>
          </a:prstGeom>
          <a:noFill/>
          <a:ln/>
        </p:spPr>
        <p:txBody>
          <a:bodyPr wrap="square" lIns="0" tIns="0" rIns="0" bIns="0" rtlCol="0" anchor="ctr">
            <a:normAutofit/>
          </a:bodyPr>
          <a:lstStyle/>
          <a:p>
            <a:pPr algn="l" indent="0" marL="0">
              <a:buNone/>
            </a:pPr>
            <a:r>
              <a:rPr lang="en-US" sz="1600" b="1" dirty="0">
                <a:solidFill>
                  <a:srgbClr val="B91C1C"/>
                </a:solidFill>
                <a:latin typeface="Arimo" pitchFamily="34" charset="0"/>
                <a:ea typeface="Arimo" pitchFamily="34" charset="-122"/>
                <a:cs typeface="Arimo" pitchFamily="34" charset="-120"/>
              </a:rPr>
              <a:t>CHMP negative opinion, July 2026; re-exam ongoing</a:t>
            </a:r>
            <a:endParaRPr lang="en-US" sz="1600" dirty="0"/>
          </a:p>
        </p:txBody>
      </p:sp>
      <p:sp>
        <p:nvSpPr>
          <p:cNvPr id="12" name="Shape 10"/>
          <p:cNvSpPr/>
          <p:nvPr/>
        </p:nvSpPr>
        <p:spPr>
          <a:xfrm>
            <a:off x="685800" y="2450592"/>
            <a:ext cx="3931920" cy="3044952"/>
          </a:xfrm>
          <a:prstGeom prst="roundRect">
            <a:avLst>
              <a:gd name="adj" fmla="val 2402"/>
            </a:avLst>
          </a:prstGeom>
          <a:solidFill>
            <a:srgbClr val="EFF6FF"/>
          </a:solidFill>
          <a:ln w="12700">
            <a:solidFill>
              <a:srgbClr val="BFDBFE"/>
            </a:solidFill>
            <a:prstDash val="solid"/>
          </a:ln>
        </p:spPr>
      </p:sp>
      <p:sp>
        <p:nvSpPr>
          <p:cNvPr id="13" name="Text 11"/>
          <p:cNvSpPr/>
          <p:nvPr/>
        </p:nvSpPr>
        <p:spPr>
          <a:xfrm>
            <a:off x="978408" y="2724912"/>
            <a:ext cx="3337560" cy="310896"/>
          </a:xfrm>
          <a:prstGeom prst="rect">
            <a:avLst/>
          </a:prstGeom>
          <a:noFill/>
          <a:ln/>
        </p:spPr>
        <p:txBody>
          <a:bodyPr wrap="square" lIns="0" tIns="0" rIns="0" bIns="0" rtlCol="0" anchor="ctr">
            <a:normAutofit/>
          </a:bodyPr>
          <a:lstStyle/>
          <a:p>
            <a:pPr algn="ctr" indent="0" marL="0">
              <a:buNone/>
            </a:pPr>
            <a:r>
              <a:rPr lang="en-US" sz="1600" dirty="0">
                <a:solidFill>
                  <a:srgbClr val="4B5563"/>
                </a:solidFill>
                <a:latin typeface="Arimo" pitchFamily="34" charset="0"/>
                <a:ea typeface="Arimo" pitchFamily="34" charset="-122"/>
                <a:cs typeface="Arimo" pitchFamily="34" charset="-120"/>
              </a:rPr>
              <a:t>Recommended-regimen pediatric Cmax</a:t>
            </a:r>
            <a:endParaRPr lang="en-US" sz="1600" dirty="0"/>
          </a:p>
        </p:txBody>
      </p:sp>
      <p:sp>
        <p:nvSpPr>
          <p:cNvPr id="14" name="Text 12"/>
          <p:cNvSpPr/>
          <p:nvPr/>
        </p:nvSpPr>
        <p:spPr>
          <a:xfrm>
            <a:off x="932688" y="3136392"/>
            <a:ext cx="3429000" cy="475488"/>
          </a:xfrm>
          <a:prstGeom prst="rect">
            <a:avLst/>
          </a:prstGeom>
          <a:noFill/>
          <a:ln/>
        </p:spPr>
        <p:txBody>
          <a:bodyPr wrap="square" lIns="0" tIns="0" rIns="0" bIns="0" rtlCol="0" anchor="ctr">
            <a:normAutofit/>
          </a:bodyPr>
          <a:lstStyle/>
          <a:p>
            <a:pPr algn="ctr" indent="0" marL="0">
              <a:buNone/>
            </a:pPr>
            <a:r>
              <a:rPr lang="en-US" sz="3000" b="1" dirty="0">
                <a:solidFill>
                  <a:srgbClr val="2563EB"/>
                </a:solidFill>
                <a:latin typeface="Arimo" pitchFamily="34" charset="0"/>
                <a:ea typeface="Arimo" pitchFamily="34" charset="-122"/>
                <a:cs typeface="Arimo" pitchFamily="34" charset="-120"/>
              </a:rPr>
              <a:t>523 ng/mL</a:t>
            </a:r>
            <a:endParaRPr lang="en-US" sz="3000" dirty="0"/>
          </a:p>
        </p:txBody>
      </p:sp>
      <p:sp>
        <p:nvSpPr>
          <p:cNvPr id="15" name="Text 13"/>
          <p:cNvSpPr/>
          <p:nvPr/>
        </p:nvSpPr>
        <p:spPr>
          <a:xfrm>
            <a:off x="932688" y="3822192"/>
            <a:ext cx="3429000" cy="548640"/>
          </a:xfrm>
          <a:prstGeom prst="rect">
            <a:avLst/>
          </a:prstGeom>
          <a:noFill/>
          <a:ln/>
        </p:spPr>
        <p:txBody>
          <a:bodyPr wrap="square" lIns="0" tIns="0" rIns="0" bIns="0" rtlCol="0" anchor="ctr">
            <a:normAutofit/>
          </a:bodyPr>
          <a:lstStyle/>
          <a:p>
            <a:pPr algn="ctr" indent="0" marL="0">
              <a:buNone/>
            </a:pPr>
            <a:r>
              <a:rPr lang="en-US" sz="3400" b="1" dirty="0">
                <a:solidFill>
                  <a:srgbClr val="111827"/>
                </a:solidFill>
                <a:latin typeface="Arimo" pitchFamily="34" charset="0"/>
                <a:ea typeface="Arimo" pitchFamily="34" charset="-122"/>
                <a:cs typeface="Arimo" pitchFamily="34" charset="-120"/>
              </a:rPr>
              <a:t>≈ 1.67 µM</a:t>
            </a:r>
            <a:endParaRPr lang="en-US" sz="3400" dirty="0"/>
          </a:p>
        </p:txBody>
      </p:sp>
      <p:sp>
        <p:nvSpPr>
          <p:cNvPr id="16" name="Text 14"/>
          <p:cNvSpPr/>
          <p:nvPr/>
        </p:nvSpPr>
        <p:spPr>
          <a:xfrm>
            <a:off x="932688" y="4462272"/>
            <a:ext cx="3429000" cy="411480"/>
          </a:xfrm>
          <a:prstGeom prst="rect">
            <a:avLst/>
          </a:prstGeom>
          <a:noFill/>
          <a:ln/>
        </p:spPr>
        <p:txBody>
          <a:bodyPr wrap="square" lIns="0" tIns="0" rIns="0" bIns="0" rtlCol="0" anchor="ctr">
            <a:normAutofit/>
          </a:bodyPr>
          <a:lstStyle/>
          <a:p>
            <a:pPr algn="ctr" indent="0" marL="0">
              <a:buNone/>
            </a:pPr>
            <a:r>
              <a:rPr lang="en-US" sz="1350" dirty="0">
                <a:solidFill>
                  <a:srgbClr val="4B5563"/>
                </a:solidFill>
                <a:latin typeface="Arimo" pitchFamily="34" charset="0"/>
                <a:ea typeface="Arimo" pitchFamily="34" charset="-122"/>
                <a:cs typeface="Arimo" pitchFamily="34" charset="-120"/>
              </a:rPr>
              <a:t>free-base equivalent; ~1.50 µM unbound</a:t>
            </a:r>
            <a:endParaRPr lang="en-US" sz="1350" dirty="0"/>
          </a:p>
        </p:txBody>
      </p:sp>
      <p:sp>
        <p:nvSpPr>
          <p:cNvPr id="17" name="Shape 15"/>
          <p:cNvSpPr/>
          <p:nvPr/>
        </p:nvSpPr>
        <p:spPr>
          <a:xfrm>
            <a:off x="5074920" y="2450592"/>
            <a:ext cx="6446520" cy="3044952"/>
          </a:xfrm>
          <a:prstGeom prst="roundRect">
            <a:avLst>
              <a:gd name="adj" fmla="val 2402"/>
            </a:avLst>
          </a:prstGeom>
          <a:solidFill>
            <a:srgbClr val="FFFFFF"/>
          </a:solidFill>
          <a:ln w="12700">
            <a:solidFill>
              <a:srgbClr val="D1D5DB"/>
            </a:solidFill>
            <a:prstDash val="solid"/>
          </a:ln>
        </p:spPr>
      </p:sp>
      <p:sp>
        <p:nvSpPr>
          <p:cNvPr id="18" name="Text 16"/>
          <p:cNvSpPr/>
          <p:nvPr/>
        </p:nvSpPr>
        <p:spPr>
          <a:xfrm>
            <a:off x="5413248" y="2724912"/>
            <a:ext cx="5413248" cy="283464"/>
          </a:xfrm>
          <a:prstGeom prst="rect">
            <a:avLst/>
          </a:prstGeom>
          <a:noFill/>
          <a:ln/>
        </p:spPr>
        <p:txBody>
          <a:bodyPr wrap="square" lIns="0" tIns="0" rIns="0" bIns="0" rtlCol="0" anchor="ctr">
            <a:normAutofit/>
          </a:bodyPr>
          <a:lstStyle/>
          <a:p>
            <a:pPr algn="l" indent="0" marL="0">
              <a:buNone/>
            </a:pPr>
            <a:r>
              <a:rPr lang="en-US" sz="1720" b="1" dirty="0">
                <a:solidFill>
                  <a:srgbClr val="111827"/>
                </a:solidFill>
                <a:latin typeface="Arimo" pitchFamily="34" charset="0"/>
                <a:ea typeface="Arimo" pitchFamily="34" charset="-122"/>
                <a:cs typeface="Arimo" pitchFamily="34" charset="-120"/>
              </a:rPr>
              <a:t>Some motivating nonclinical experiments</a:t>
            </a:r>
            <a:endParaRPr lang="en-US" sz="1720" dirty="0"/>
          </a:p>
        </p:txBody>
      </p:sp>
      <p:sp>
        <p:nvSpPr>
          <p:cNvPr id="19" name="Text 17"/>
          <p:cNvSpPr/>
          <p:nvPr/>
        </p:nvSpPr>
        <p:spPr>
          <a:xfrm>
            <a:off x="5413248" y="3154680"/>
            <a:ext cx="5413248" cy="411480"/>
          </a:xfrm>
          <a:prstGeom prst="rect">
            <a:avLst/>
          </a:prstGeom>
          <a:noFill/>
          <a:ln/>
        </p:spPr>
        <p:txBody>
          <a:bodyPr wrap="square" lIns="0" tIns="0" rIns="0" bIns="0" rtlCol="0" anchor="ctr">
            <a:normAutofit/>
          </a:bodyPr>
          <a:lstStyle/>
          <a:p>
            <a:pPr algn="l" indent="0" marL="0">
              <a:buNone/>
            </a:pPr>
            <a:r>
              <a:rPr lang="en-US" sz="2900" b="1" dirty="0">
                <a:solidFill>
                  <a:srgbClr val="B45309"/>
                </a:solidFill>
                <a:latin typeface="Arimo" pitchFamily="34" charset="0"/>
                <a:ea typeface="Arimo" pitchFamily="34" charset="-122"/>
                <a:cs typeface="Arimo" pitchFamily="34" charset="-120"/>
              </a:rPr>
              <a:t>100-400 µM</a:t>
            </a:r>
            <a:endParaRPr lang="en-US" sz="2900" dirty="0"/>
          </a:p>
        </p:txBody>
      </p:sp>
      <p:sp>
        <p:nvSpPr>
          <p:cNvPr id="20" name="Shape 18"/>
          <p:cNvSpPr/>
          <p:nvPr/>
        </p:nvSpPr>
        <p:spPr>
          <a:xfrm>
            <a:off x="5532120" y="4160520"/>
            <a:ext cx="5257800" cy="0"/>
          </a:xfrm>
          <a:prstGeom prst="line">
            <a:avLst/>
          </a:prstGeom>
          <a:noFill/>
          <a:ln w="50800">
            <a:solidFill>
              <a:srgbClr val="D1D5DB"/>
            </a:solidFill>
            <a:prstDash val="solid"/>
          </a:ln>
        </p:spPr>
      </p:sp>
      <p:sp>
        <p:nvSpPr>
          <p:cNvPr id="21" name="Shape 19"/>
          <p:cNvSpPr/>
          <p:nvPr/>
        </p:nvSpPr>
        <p:spPr>
          <a:xfrm>
            <a:off x="5715000" y="4005072"/>
            <a:ext cx="310896" cy="310896"/>
          </a:xfrm>
          <a:prstGeom prst="ellipse">
            <a:avLst/>
          </a:prstGeom>
          <a:solidFill>
            <a:srgbClr val="2563EB"/>
          </a:solidFill>
          <a:ln w="12700">
            <a:solidFill>
              <a:srgbClr val="2563EB"/>
            </a:solidFill>
            <a:prstDash val="solid"/>
          </a:ln>
        </p:spPr>
      </p:sp>
      <p:sp>
        <p:nvSpPr>
          <p:cNvPr id="22" name="Text 20"/>
          <p:cNvSpPr/>
          <p:nvPr/>
        </p:nvSpPr>
        <p:spPr>
          <a:xfrm>
            <a:off x="5532120" y="4389120"/>
            <a:ext cx="640080" cy="237744"/>
          </a:xfrm>
          <a:prstGeom prst="rect">
            <a:avLst/>
          </a:prstGeom>
          <a:noFill/>
          <a:ln/>
        </p:spPr>
        <p:txBody>
          <a:bodyPr wrap="square" lIns="0" tIns="0" rIns="0" bIns="0" rtlCol="0" anchor="ctr">
            <a:normAutofit/>
          </a:bodyPr>
          <a:lstStyle/>
          <a:p>
            <a:pPr algn="ctr" indent="0" marL="0">
              <a:buNone/>
            </a:pPr>
            <a:r>
              <a:rPr lang="en-US" sz="1150" dirty="0">
                <a:solidFill>
                  <a:srgbClr val="2563EB"/>
                </a:solidFill>
                <a:latin typeface="Arimo" pitchFamily="34" charset="0"/>
                <a:ea typeface="Arimo" pitchFamily="34" charset="-122"/>
                <a:cs typeface="Arimo" pitchFamily="34" charset="-120"/>
              </a:rPr>
              <a:t>1.67</a:t>
            </a:r>
            <a:endParaRPr lang="en-US" sz="1150" dirty="0"/>
          </a:p>
        </p:txBody>
      </p:sp>
      <p:sp>
        <p:nvSpPr>
          <p:cNvPr id="23" name="Shape 21"/>
          <p:cNvSpPr/>
          <p:nvPr/>
        </p:nvSpPr>
        <p:spPr>
          <a:xfrm>
            <a:off x="8942832" y="4005072"/>
            <a:ext cx="310896" cy="310896"/>
          </a:xfrm>
          <a:prstGeom prst="ellipse">
            <a:avLst/>
          </a:prstGeom>
          <a:solidFill>
            <a:srgbClr val="B45309"/>
          </a:solidFill>
          <a:ln w="12700">
            <a:solidFill>
              <a:srgbClr val="B45309"/>
            </a:solidFill>
            <a:prstDash val="solid"/>
          </a:ln>
        </p:spPr>
      </p:sp>
      <p:sp>
        <p:nvSpPr>
          <p:cNvPr id="24" name="Text 22"/>
          <p:cNvSpPr/>
          <p:nvPr/>
        </p:nvSpPr>
        <p:spPr>
          <a:xfrm>
            <a:off x="8796528" y="4389120"/>
            <a:ext cx="640080" cy="237744"/>
          </a:xfrm>
          <a:prstGeom prst="rect">
            <a:avLst/>
          </a:prstGeom>
          <a:noFill/>
          <a:ln/>
        </p:spPr>
        <p:txBody>
          <a:bodyPr wrap="square" lIns="0" tIns="0" rIns="0" bIns="0" rtlCol="0" anchor="ctr">
            <a:normAutofit/>
          </a:bodyPr>
          <a:lstStyle/>
          <a:p>
            <a:pPr algn="ctr" indent="0" marL="0">
              <a:buNone/>
            </a:pPr>
            <a:r>
              <a:rPr lang="en-US" sz="1150" dirty="0">
                <a:solidFill>
                  <a:srgbClr val="B45309"/>
                </a:solidFill>
                <a:latin typeface="Arimo" pitchFamily="34" charset="0"/>
                <a:ea typeface="Arimo" pitchFamily="34" charset="-122"/>
                <a:cs typeface="Arimo" pitchFamily="34" charset="-120"/>
              </a:rPr>
              <a:t>100</a:t>
            </a:r>
            <a:endParaRPr lang="en-US" sz="1150" dirty="0"/>
          </a:p>
        </p:txBody>
      </p:sp>
      <p:sp>
        <p:nvSpPr>
          <p:cNvPr id="25" name="Shape 23"/>
          <p:cNvSpPr/>
          <p:nvPr/>
        </p:nvSpPr>
        <p:spPr>
          <a:xfrm>
            <a:off x="10222992" y="4005072"/>
            <a:ext cx="310896" cy="310896"/>
          </a:xfrm>
          <a:prstGeom prst="ellipse">
            <a:avLst/>
          </a:prstGeom>
          <a:solidFill>
            <a:srgbClr val="B45309"/>
          </a:solidFill>
          <a:ln w="12700">
            <a:solidFill>
              <a:srgbClr val="B45309"/>
            </a:solidFill>
            <a:prstDash val="solid"/>
          </a:ln>
        </p:spPr>
      </p:sp>
      <p:sp>
        <p:nvSpPr>
          <p:cNvPr id="26" name="Text 24"/>
          <p:cNvSpPr/>
          <p:nvPr/>
        </p:nvSpPr>
        <p:spPr>
          <a:xfrm>
            <a:off x="10076688" y="4389120"/>
            <a:ext cx="640080" cy="237744"/>
          </a:xfrm>
          <a:prstGeom prst="rect">
            <a:avLst/>
          </a:prstGeom>
          <a:noFill/>
          <a:ln/>
        </p:spPr>
        <p:txBody>
          <a:bodyPr wrap="square" lIns="0" tIns="0" rIns="0" bIns="0" rtlCol="0" anchor="ctr">
            <a:normAutofit/>
          </a:bodyPr>
          <a:lstStyle/>
          <a:p>
            <a:pPr algn="ctr" indent="0" marL="0">
              <a:buNone/>
            </a:pPr>
            <a:r>
              <a:rPr lang="en-US" sz="1150" dirty="0">
                <a:solidFill>
                  <a:srgbClr val="B45309"/>
                </a:solidFill>
                <a:latin typeface="Arimo" pitchFamily="34" charset="0"/>
                <a:ea typeface="Arimo" pitchFamily="34" charset="-122"/>
                <a:cs typeface="Arimo" pitchFamily="34" charset="-120"/>
              </a:rPr>
              <a:t>400</a:t>
            </a:r>
            <a:endParaRPr lang="en-US" sz="1150" dirty="0"/>
          </a:p>
        </p:txBody>
      </p:sp>
      <p:sp>
        <p:nvSpPr>
          <p:cNvPr id="27" name="Shape 25"/>
          <p:cNvSpPr/>
          <p:nvPr/>
        </p:nvSpPr>
        <p:spPr>
          <a:xfrm>
            <a:off x="6510528" y="4818888"/>
            <a:ext cx="3246120" cy="329184"/>
          </a:xfrm>
          <a:prstGeom prst="roundRect">
            <a:avLst>
              <a:gd name="adj" fmla="val 33333"/>
            </a:avLst>
          </a:prstGeom>
          <a:solidFill>
            <a:srgbClr val="FFFBEB"/>
          </a:solidFill>
          <a:ln w="12700">
            <a:solidFill>
              <a:srgbClr val="FFFBEB"/>
            </a:solidFill>
            <a:prstDash val="solid"/>
          </a:ln>
        </p:spPr>
      </p:sp>
      <p:sp>
        <p:nvSpPr>
          <p:cNvPr id="28" name="Text 26"/>
          <p:cNvSpPr/>
          <p:nvPr/>
        </p:nvSpPr>
        <p:spPr>
          <a:xfrm>
            <a:off x="6583680" y="4869180"/>
            <a:ext cx="3099816" cy="201168"/>
          </a:xfrm>
          <a:prstGeom prst="rect">
            <a:avLst/>
          </a:prstGeom>
          <a:noFill/>
          <a:ln/>
        </p:spPr>
        <p:txBody>
          <a:bodyPr wrap="square" lIns="0" tIns="0" rIns="0" bIns="0" rtlCol="0" anchor="ctr">
            <a:normAutofit/>
          </a:bodyPr>
          <a:lstStyle/>
          <a:p>
            <a:pPr algn="ctr" indent="0" marL="0">
              <a:buNone/>
            </a:pPr>
            <a:r>
              <a:rPr lang="en-US" sz="1050" b="1" dirty="0">
                <a:solidFill>
                  <a:srgbClr val="B45309"/>
                </a:solidFill>
                <a:latin typeface="Arimo" pitchFamily="34" charset="0"/>
                <a:ea typeface="Arimo" pitchFamily="34" charset="-122"/>
                <a:cs typeface="Arimo" pitchFamily="34" charset="-120"/>
              </a:rPr>
              <a:t>DOES NOT PROVE INEFFICACY</a:t>
            </a:r>
            <a:endParaRPr lang="en-US" sz="1050" dirty="0"/>
          </a:p>
        </p:txBody>
      </p:sp>
      <p:sp>
        <p:nvSpPr>
          <p:cNvPr id="29" name="Text 27"/>
          <p:cNvSpPr/>
          <p:nvPr/>
        </p:nvSpPr>
        <p:spPr>
          <a:xfrm>
            <a:off x="5413248" y="5230368"/>
            <a:ext cx="5623560" cy="274320"/>
          </a:xfrm>
          <a:prstGeom prst="rect">
            <a:avLst/>
          </a:prstGeom>
          <a:noFill/>
          <a:ln/>
        </p:spPr>
        <p:txBody>
          <a:bodyPr wrap="square" lIns="0" tIns="0" rIns="0" bIns="0" rtlCol="0" anchor="ctr">
            <a:normAutofit/>
          </a:bodyPr>
          <a:lstStyle/>
          <a:p>
            <a:pPr algn="ctr" indent="0" marL="0">
              <a:buNone/>
            </a:pPr>
            <a:r>
              <a:rPr lang="en-US" sz="1450" b="1" dirty="0">
                <a:solidFill>
                  <a:srgbClr val="111827"/>
                </a:solidFill>
                <a:latin typeface="Arimo" pitchFamily="34" charset="0"/>
                <a:ea typeface="Arimo" pitchFamily="34" charset="-122"/>
                <a:cs typeface="Arimo" pitchFamily="34" charset="-120"/>
              </a:rPr>
              <a:t>It changes the experiment: start in the low-µM clinically anchored range.</a:t>
            </a:r>
            <a:endParaRPr lang="en-US" sz="1450" dirty="0"/>
          </a:p>
        </p:txBody>
      </p:sp>
      <p:sp>
        <p:nvSpPr>
          <p:cNvPr id="25" name="Slide Number Placeholder 0"/>
          <p:cNvSpPr>
            <a:spLocks noGrp="1"/>
          </p:cNvSpPr>
          <p:nvPr>
            <p:ph type="sldNum" sz="quarter" idx="4294967295"/>
          </p:nvPr>
        </p:nvSpPr>
        <p:spPr>
          <a:xfrm>
            <a:off x="11265408" y="6565392"/>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9CA3AF"/>
                </a:solidFill>
                <a:latin typeface="Arimo"/>
                <a:ea typeface="Arimo"/>
                <a:cs typeface="Arim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0744200" y="329184"/>
            <a:ext cx="941832" cy="292608"/>
          </a:xfrm>
          <a:prstGeom prst="roundRect">
            <a:avLst>
              <a:gd name="adj" fmla="val 18750"/>
            </a:avLst>
          </a:prstGeom>
          <a:solidFill>
            <a:srgbClr val="F3F4F6"/>
          </a:solidFill>
          <a:ln w="7620">
            <a:solidFill>
              <a:srgbClr val="D1D5DB"/>
            </a:solidFill>
            <a:prstDash val="solid"/>
          </a:ln>
        </p:spPr>
        <p:txBody>
          <a:bodyPr/>
          <a:p/>
        </p:txBody>
      </p:sp>
      <p:sp>
        <p:nvSpPr>
          <p:cNvPr id="3" name="Text 1"/>
          <p:cNvSpPr/>
          <p:nvPr/>
        </p:nvSpPr>
        <p:spPr>
          <a:xfrm>
            <a:off x="10762488" y="361188"/>
            <a:ext cx="905256" cy="173736"/>
          </a:xfrm>
          <a:prstGeom prst="rect">
            <a:avLst/>
          </a:prstGeom>
          <a:noFill/>
          <a:ln/>
        </p:spPr>
        <p:txBody>
          <a:bodyPr wrap="square" lIns="0" tIns="0" rIns="0" bIns="0" rtlCol="0" anchor="ctr">
            <a:normAutofit/>
          </a:bodyPr>
          <a:lstStyle/>
          <a:p>
            <a:r>
              <a:t>1:57-2:34</a:t>
            </a:r>
          </a:p>
        </p:txBody>
      </p:sp>
      <p:sp>
        <p:nvSpPr>
          <p:cNvPr id="4" name="Text 2"/>
          <p:cNvSpPr/>
          <p:nvPr/>
        </p:nvSpPr>
        <p:spPr>
          <a:xfrm>
            <a:off x="502920" y="329184"/>
            <a:ext cx="10012680" cy="502920"/>
          </a:xfrm>
          <a:prstGeom prst="rect">
            <a:avLst/>
          </a:prstGeom>
          <a:noFill/>
          <a:ln/>
        </p:spPr>
        <p:txBody>
          <a:bodyPr wrap="square" lIns="0" tIns="0" rIns="0" bIns="0" rtlCol="0" anchor="ctr">
            <a:normAutofit/>
          </a:bodyPr>
          <a:lstStyle/>
          <a:p>
            <a:r>
              <a:t>Pre-commitment before rescue claims</a:t>
            </a:r>
          </a:p>
        </p:txBody>
      </p:sp>
      <p:sp>
        <p:nvSpPr>
          <p:cNvPr id="5" name="Text 3"/>
          <p:cNvSpPr/>
          <p:nvPr/>
        </p:nvSpPr>
        <p:spPr>
          <a:xfrm>
            <a:off x="502920" y="841248"/>
            <a:ext cx="10012680" cy="310896"/>
          </a:xfrm>
          <a:prstGeom prst="rect">
            <a:avLst/>
          </a:prstGeom>
          <a:noFill/>
          <a:ln/>
        </p:spPr>
        <p:txBody>
          <a:bodyPr wrap="square" lIns="0" tIns="0" rIns="0" bIns="0" rtlCol="0" anchor="ctr">
            <a:normAutofit/>
          </a:bodyPr>
          <a:lstStyle/>
          <a:p>
            <a:r>
              <a:t>NB17 fixes evidence strength; NB10 tests false rescue.</a:t>
            </a:r>
          </a:p>
        </p:txBody>
      </p:sp>
      <p:sp>
        <p:nvSpPr>
          <p:cNvPr id="6" name="Shape 4"/>
          <p:cNvSpPr/>
          <p:nvPr/>
        </p:nvSpPr>
        <p:spPr>
          <a:xfrm>
            <a:off x="594360" y="1353312"/>
            <a:ext cx="3886200" cy="4526280"/>
          </a:xfrm>
          <a:prstGeom prst="roundRect">
            <a:avLst>
              <a:gd name="adj" fmla="val 1882"/>
            </a:avLst>
          </a:prstGeom>
          <a:solidFill>
            <a:srgbClr val="FEF2F2"/>
          </a:solidFill>
          <a:ln w="12700">
            <a:solidFill>
              <a:srgbClr val="FECACA"/>
            </a:solidFill>
            <a:prstDash val="solid"/>
          </a:ln>
        </p:spPr>
        <p:txBody>
          <a:bodyPr/>
          <a:p/>
        </p:txBody>
      </p:sp>
      <p:sp>
        <p:nvSpPr>
          <p:cNvPr id="7" name="Text 5"/>
          <p:cNvSpPr/>
          <p:nvPr/>
        </p:nvSpPr>
        <p:spPr>
          <a:xfrm>
            <a:off x="868680" y="1664208"/>
            <a:ext cx="3310128" cy="365760"/>
          </a:xfrm>
          <a:prstGeom prst="rect">
            <a:avLst/>
          </a:prstGeom>
          <a:noFill/>
          <a:ln/>
        </p:spPr>
        <p:txBody>
          <a:bodyPr wrap="square" lIns="0" tIns="0" rIns="0" bIns="0" rtlCol="0" anchor="ctr">
            <a:normAutofit/>
          </a:bodyPr>
          <a:lstStyle/>
          <a:p>
            <a:r>
              <a:t>NB17 evidence ceiling</a:t>
            </a:r>
          </a:p>
        </p:txBody>
      </p:sp>
      <p:sp>
        <p:nvSpPr>
          <p:cNvPr id="8" name="Shape 6"/>
          <p:cNvSpPr/>
          <p:nvPr/>
        </p:nvSpPr>
        <p:spPr>
          <a:xfrm>
            <a:off x="868680" y="2212848"/>
            <a:ext cx="2148840" cy="329184"/>
          </a:xfrm>
          <a:prstGeom prst="roundRect">
            <a:avLst>
              <a:gd name="adj" fmla="val 33333"/>
            </a:avLst>
          </a:prstGeom>
          <a:solidFill>
            <a:srgbClr val="FFFFFF"/>
          </a:solidFill>
          <a:ln w="12700">
            <a:solidFill>
              <a:srgbClr val="FFFFFF"/>
            </a:solidFill>
            <a:prstDash val="solid"/>
          </a:ln>
        </p:spPr>
        <p:txBody>
          <a:bodyPr/>
          <a:p/>
        </p:txBody>
      </p:sp>
      <p:sp>
        <p:nvSpPr>
          <p:cNvPr id="9" name="Text 7"/>
          <p:cNvSpPr/>
          <p:nvPr/>
        </p:nvSpPr>
        <p:spPr>
          <a:xfrm>
            <a:off x="941832" y="2263140"/>
            <a:ext cx="2002536" cy="201168"/>
          </a:xfrm>
          <a:prstGeom prst="rect">
            <a:avLst/>
          </a:prstGeom>
          <a:noFill/>
          <a:ln/>
        </p:spPr>
        <p:txBody>
          <a:bodyPr wrap="square" lIns="0" tIns="0" rIns="0" bIns="0" rtlCol="0" anchor="ctr">
            <a:normAutofit/>
          </a:bodyPr>
          <a:lstStyle/>
          <a:p>
            <a:r>
              <a:t>6 B/LB + 5 P/LP</a:t>
            </a:r>
          </a:p>
        </p:txBody>
      </p:sp>
      <p:sp>
        <p:nvSpPr>
          <p:cNvPr id="10" name="Text 8"/>
          <p:cNvSpPr/>
          <p:nvPr/>
        </p:nvSpPr>
        <p:spPr>
          <a:xfrm>
            <a:off x="868680" y="2880360"/>
            <a:ext cx="1417320" cy="329184"/>
          </a:xfrm>
          <a:prstGeom prst="rect">
            <a:avLst/>
          </a:prstGeom>
          <a:noFill/>
          <a:ln/>
        </p:spPr>
        <p:txBody>
          <a:bodyPr wrap="square" lIns="0" tIns="0" rIns="0" bIns="0" rtlCol="0" anchor="ctr">
            <a:normAutofit/>
          </a:bodyPr>
          <a:lstStyle/>
          <a:p>
            <a:r>
              <a:t>Perfect separation</a:t>
            </a:r>
          </a:p>
        </p:txBody>
      </p:sp>
      <p:sp>
        <p:nvSpPr>
          <p:cNvPr id="11" name="Text 9"/>
          <p:cNvSpPr/>
          <p:nvPr/>
        </p:nvSpPr>
        <p:spPr>
          <a:xfrm>
            <a:off x="2615184" y="2880360"/>
            <a:ext cx="1444752" cy="329184"/>
          </a:xfrm>
          <a:prstGeom prst="rect">
            <a:avLst/>
          </a:prstGeom>
          <a:noFill/>
          <a:ln/>
        </p:spPr>
        <p:txBody>
          <a:bodyPr wrap="square" lIns="0" tIns="0" rIns="0" bIns="0" rtlCol="0" anchor="ctr">
            <a:normAutofit/>
          </a:bodyPr>
          <a:lstStyle/>
          <a:p>
            <a:r>
              <a:t>Moderate only</a:t>
            </a:r>
          </a:p>
        </p:txBody>
      </p:sp>
      <p:sp>
        <p:nvSpPr>
          <p:cNvPr id="12" name="Text 10"/>
          <p:cNvSpPr/>
          <p:nvPr/>
        </p:nvSpPr>
        <p:spPr>
          <a:xfrm>
            <a:off x="868680" y="3493008"/>
            <a:ext cx="1508760" cy="329184"/>
          </a:xfrm>
          <a:prstGeom prst="rect">
            <a:avLst/>
          </a:prstGeom>
          <a:noFill/>
          <a:ln/>
        </p:spPr>
        <p:txBody>
          <a:bodyPr wrap="square" lIns="0" tIns="0" rIns="0" bIns="0" rtlCol="0" anchor="ctr">
            <a:normAutofit/>
          </a:bodyPr>
          <a:lstStyle/>
          <a:p>
            <a:r>
              <a:t>Strong evidence</a:t>
            </a:r>
          </a:p>
        </p:txBody>
      </p:sp>
      <p:sp>
        <p:nvSpPr>
          <p:cNvPr id="13" name="Text 11"/>
          <p:cNvSpPr/>
          <p:nvPr/>
        </p:nvSpPr>
        <p:spPr>
          <a:xfrm>
            <a:off x="2615184" y="3493008"/>
            <a:ext cx="1444752" cy="329184"/>
          </a:xfrm>
          <a:prstGeom prst="rect">
            <a:avLst/>
          </a:prstGeom>
          <a:noFill/>
          <a:ln/>
        </p:spPr>
        <p:txBody>
          <a:bodyPr wrap="square" lIns="0" tIns="0" rIns="0" bIns="0" rtlCol="0" anchor="ctr">
            <a:normAutofit/>
          </a:bodyPr>
          <a:lstStyle/>
          <a:p>
            <a:r>
              <a:t>prospectively inadmissible</a:t>
            </a:r>
          </a:p>
        </p:txBody>
      </p:sp>
      <p:sp>
        <p:nvSpPr>
          <p:cNvPr id="14" name="Text 12"/>
          <p:cNvSpPr/>
          <p:nvPr/>
        </p:nvSpPr>
        <p:spPr>
          <a:xfrm>
            <a:off x="868680" y="4251960"/>
            <a:ext cx="3163824" cy="438912"/>
          </a:xfrm>
          <a:prstGeom prst="rect">
            <a:avLst/>
          </a:prstGeom>
          <a:noFill/>
          <a:ln/>
        </p:spPr>
        <p:txBody>
          <a:bodyPr wrap="square" lIns="0" tIns="0" rIns="0" bIns="0" rtlCol="0" anchor="ctr">
            <a:normAutofit/>
          </a:bodyPr>
          <a:lstStyle/>
          <a:p>
            <a:r>
              <a:t>Threshold locked from controls before N1002K unblinding.</a:t>
            </a:r>
          </a:p>
        </p:txBody>
      </p:sp>
      <p:sp>
        <p:nvSpPr>
          <p:cNvPr id="15" name="Text 13"/>
          <p:cNvSpPr/>
          <p:nvPr/>
        </p:nvSpPr>
        <p:spPr>
          <a:xfrm>
            <a:off x="868680" y="4983480"/>
            <a:ext cx="3163824" cy="438912"/>
          </a:xfrm>
          <a:prstGeom prst="rect">
            <a:avLst/>
          </a:prstGeom>
          <a:noFill/>
          <a:ln/>
        </p:spPr>
        <p:txBody>
          <a:bodyPr wrap="square" lIns="0" tIns="0" rIns="0" bIns="0" rtlCol="0" anchor="ctr">
            <a:normAutofit/>
          </a:bodyPr>
          <a:lstStyle/>
          <a:p>
            <a:r>
              <a:t>Any single control loss leaves &lt;11 controls.</a:t>
            </a:r>
          </a:p>
        </p:txBody>
      </p:sp>
      <p:sp>
        <p:nvSpPr>
          <p:cNvPr id="16" name="Shape 14"/>
          <p:cNvSpPr/>
          <p:nvPr/>
        </p:nvSpPr>
        <p:spPr>
          <a:xfrm>
            <a:off x="4809744" y="1353312"/>
            <a:ext cx="6812280" cy="4526280"/>
          </a:xfrm>
          <a:prstGeom prst="roundRect">
            <a:avLst>
              <a:gd name="adj" fmla="val 1616"/>
            </a:avLst>
          </a:prstGeom>
          <a:solidFill>
            <a:srgbClr val="FFFFFF"/>
          </a:solidFill>
          <a:ln w="12700">
            <a:solidFill>
              <a:srgbClr val="D1D5DB"/>
            </a:solidFill>
            <a:prstDash val="solid"/>
          </a:ln>
        </p:spPr>
        <p:txBody>
          <a:bodyPr/>
          <a:p/>
        </p:txBody>
      </p:sp>
      <p:sp>
        <p:nvSpPr>
          <p:cNvPr id="17" name="Text 15"/>
          <p:cNvSpPr/>
          <p:nvPr/>
        </p:nvSpPr>
        <p:spPr>
          <a:xfrm>
            <a:off x="5166360" y="1664208"/>
            <a:ext cx="5989320" cy="320040"/>
          </a:xfrm>
          <a:prstGeom prst="rect">
            <a:avLst/>
          </a:prstGeom>
          <a:noFill/>
          <a:ln/>
        </p:spPr>
        <p:txBody>
          <a:bodyPr wrap="square" lIns="0" tIns="0" rIns="0" bIns="0" rtlCol="0" anchor="ctr">
            <a:normAutofit/>
          </a:bodyPr>
          <a:lstStyle/>
          <a:p>
            <a:r>
              <a:t>NB10 synthetic false-rescue audit</a:t>
            </a:r>
          </a:p>
        </p:txBody>
      </p:sp>
      <p:sp>
        <p:nvSpPr>
          <p:cNvPr id="18" name="Text 16"/>
          <p:cNvSpPr/>
          <p:nvPr/>
        </p:nvSpPr>
        <p:spPr>
          <a:xfrm>
            <a:off x="5166360" y="2002536"/>
            <a:ext cx="5989320" cy="274320"/>
          </a:xfrm>
          <a:prstGeom prst="rect">
            <a:avLst/>
          </a:prstGeom>
          <a:noFill/>
          <a:ln/>
        </p:spPr>
        <p:txBody>
          <a:bodyPr wrap="square" lIns="0" tIns="0" rIns="0" bIns="0" rtlCol="0" anchor="ctr">
            <a:normAutofit/>
          </a:bodyPr>
          <a:lstStyle/>
          <a:p>
            <a:r>
              <a:t>Decision threshold: ≥25% RRR. Scenario: 40% true RRR. Cytostasis/kill: 0 clean rescues.</a:t>
            </a:r>
          </a:p>
        </p:txBody>
      </p:sp>
      <p:sp>
        <p:nvSpPr>
          <p:cNvPr id="19" name="Shape 17"/>
          <p:cNvSpPr/>
          <p:nvPr/>
        </p:nvSpPr>
        <p:spPr>
          <a:xfrm>
            <a:off x="5532120" y="4001689"/>
            <a:ext cx="1078992" cy="1073231"/>
          </a:xfrm>
          <a:prstGeom prst="rect">
            <a:avLst/>
          </a:prstGeom>
          <a:solidFill>
            <a:srgbClr val="64748B"/>
          </a:solidFill>
          <a:ln w="12700">
            <a:solidFill>
              <a:srgbClr val="64748B"/>
            </a:solidFill>
            <a:prstDash val="solid"/>
          </a:ln>
        </p:spPr>
        <p:txBody>
          <a:bodyPr/>
          <a:p/>
        </p:txBody>
      </p:sp>
      <p:sp>
        <p:nvSpPr>
          <p:cNvPr id="20" name="Text 18"/>
          <p:cNvSpPr/>
          <p:nvPr/>
        </p:nvSpPr>
        <p:spPr>
          <a:xfrm>
            <a:off x="5458968" y="3635929"/>
            <a:ext cx="1225296" cy="274320"/>
          </a:xfrm>
          <a:prstGeom prst="rect">
            <a:avLst/>
          </a:prstGeom>
          <a:noFill/>
          <a:ln/>
        </p:spPr>
        <p:txBody>
          <a:bodyPr wrap="square" lIns="0" tIns="0" rIns="0" bIns="0" rtlCol="0" anchor="ctr">
            <a:normAutofit/>
          </a:bodyPr>
          <a:lstStyle/>
          <a:p>
            <a:pPr algn="ctr" indent="0" marL="0">
              <a:buNone/>
            </a:pPr>
            <a:r>
              <a:rPr lang="en-US" sz="1700" b="1" dirty="0">
                <a:solidFill>
                  <a:srgbClr val="64748B"/>
                </a:solidFill>
                <a:latin typeface="Arimo" pitchFamily="34" charset="0"/>
                <a:ea typeface="Arimo" pitchFamily="34" charset="-122"/>
                <a:cs typeface="Arimo" pitchFamily="34" charset="-120"/>
              </a:rPr>
              <a:t>48.5%</a:t>
            </a:r>
            <a:endParaRPr lang="en-US" sz="1700" dirty="0"/>
          </a:p>
        </p:txBody>
      </p:sp>
      <p:sp>
        <p:nvSpPr>
          <p:cNvPr id="21" name="Text 19"/>
          <p:cNvSpPr/>
          <p:nvPr/>
        </p:nvSpPr>
        <p:spPr>
          <a:xfrm>
            <a:off x="5440680" y="5202936"/>
            <a:ext cx="1261872" cy="274320"/>
          </a:xfrm>
          <a:prstGeom prst="rect">
            <a:avLst/>
          </a:prstGeom>
          <a:noFill/>
          <a:ln/>
        </p:spPr>
        <p:txBody>
          <a:bodyPr wrap="square" lIns="0" tIns="0" rIns="0" bIns="0" rtlCol="0" anchor="ctr">
            <a:normAutofit/>
          </a:bodyPr>
          <a:lstStyle/>
          <a:p>
            <a:pPr algn="ctr" indent="0" marL="0">
              <a:buNone/>
            </a:pPr>
            <a:r>
              <a:rPr lang="en-US" sz="1400" b="1" dirty="0">
                <a:solidFill>
                  <a:srgbClr val="111827"/>
                </a:solidFill>
                <a:latin typeface="Arimo" pitchFamily="34" charset="0"/>
                <a:ea typeface="Arimo" pitchFamily="34" charset="-122"/>
                <a:cs typeface="Arimo" pitchFamily="34" charset="-120"/>
              </a:rPr>
              <a:t>4 reps</a:t>
            </a:r>
            <a:endParaRPr lang="en-US" sz="1400" dirty="0"/>
          </a:p>
        </p:txBody>
      </p:sp>
      <p:sp>
        <p:nvSpPr>
          <p:cNvPr id="22" name="Shape 20"/>
          <p:cNvSpPr/>
          <p:nvPr/>
        </p:nvSpPr>
        <p:spPr>
          <a:xfrm>
            <a:off x="7662672" y="3550268"/>
            <a:ext cx="1078992" cy="1524652"/>
          </a:xfrm>
          <a:prstGeom prst="rect">
            <a:avLst/>
          </a:prstGeom>
          <a:solidFill>
            <a:srgbClr val="2563EB"/>
          </a:solidFill>
          <a:ln w="12700">
            <a:solidFill>
              <a:srgbClr val="2563EB"/>
            </a:solidFill>
            <a:prstDash val="solid"/>
          </a:ln>
        </p:spPr>
        <p:txBody>
          <a:bodyPr/>
          <a:p/>
        </p:txBody>
      </p:sp>
      <p:sp>
        <p:nvSpPr>
          <p:cNvPr id="23" name="Text 21"/>
          <p:cNvSpPr/>
          <p:nvPr/>
        </p:nvSpPr>
        <p:spPr>
          <a:xfrm>
            <a:off x="7589520" y="3184508"/>
            <a:ext cx="1225296" cy="274320"/>
          </a:xfrm>
          <a:prstGeom prst="rect">
            <a:avLst/>
          </a:prstGeom>
          <a:noFill/>
          <a:ln/>
        </p:spPr>
        <p:txBody>
          <a:bodyPr wrap="square" lIns="0" tIns="0" rIns="0" bIns="0" rtlCol="0" anchor="ctr">
            <a:normAutofit/>
          </a:bodyPr>
          <a:lstStyle/>
          <a:p>
            <a:pPr algn="ctr" indent="0" marL="0">
              <a:buNone/>
            </a:pPr>
            <a:r>
              <a:rPr lang="en-US" sz="1700" b="1" dirty="0">
                <a:solidFill>
                  <a:srgbClr val="2563EB"/>
                </a:solidFill>
                <a:latin typeface="Arimo" pitchFamily="34" charset="0"/>
                <a:ea typeface="Arimo" pitchFamily="34" charset="-122"/>
                <a:cs typeface="Arimo" pitchFamily="34" charset="-120"/>
              </a:rPr>
              <a:t>68.9%</a:t>
            </a:r>
            <a:endParaRPr lang="en-US" sz="1700" dirty="0"/>
          </a:p>
        </p:txBody>
      </p:sp>
      <p:sp>
        <p:nvSpPr>
          <p:cNvPr id="24" name="Text 22"/>
          <p:cNvSpPr/>
          <p:nvPr/>
        </p:nvSpPr>
        <p:spPr>
          <a:xfrm>
            <a:off x="7571232" y="5202936"/>
            <a:ext cx="1261872" cy="274320"/>
          </a:xfrm>
          <a:prstGeom prst="rect">
            <a:avLst/>
          </a:prstGeom>
          <a:noFill/>
          <a:ln/>
        </p:spPr>
        <p:txBody>
          <a:bodyPr wrap="square" lIns="0" tIns="0" rIns="0" bIns="0" rtlCol="0" anchor="ctr">
            <a:normAutofit/>
          </a:bodyPr>
          <a:lstStyle/>
          <a:p>
            <a:pPr algn="ctr" indent="0" marL="0">
              <a:buNone/>
            </a:pPr>
            <a:r>
              <a:rPr lang="en-US" sz="1400" b="1" dirty="0">
                <a:solidFill>
                  <a:srgbClr val="111827"/>
                </a:solidFill>
                <a:latin typeface="Arimo" pitchFamily="34" charset="0"/>
                <a:ea typeface="Arimo" pitchFamily="34" charset="-122"/>
                <a:cs typeface="Arimo" pitchFamily="34" charset="-120"/>
              </a:rPr>
              <a:t>6 reps</a:t>
            </a:r>
            <a:endParaRPr lang="en-US" sz="1400" dirty="0"/>
          </a:p>
        </p:txBody>
      </p:sp>
      <p:sp>
        <p:nvSpPr>
          <p:cNvPr id="25" name="Shape 23"/>
          <p:cNvSpPr/>
          <p:nvPr/>
        </p:nvSpPr>
        <p:spPr>
          <a:xfrm>
            <a:off x="9793224" y="3293577"/>
            <a:ext cx="1078992" cy="1781343"/>
          </a:xfrm>
          <a:prstGeom prst="rect">
            <a:avLst/>
          </a:prstGeom>
          <a:solidFill>
            <a:srgbClr val="0F766E"/>
          </a:solidFill>
          <a:ln w="12700">
            <a:solidFill>
              <a:srgbClr val="0F766E"/>
            </a:solidFill>
            <a:prstDash val="solid"/>
          </a:ln>
        </p:spPr>
        <p:txBody>
          <a:bodyPr/>
          <a:p/>
        </p:txBody>
      </p:sp>
      <p:sp>
        <p:nvSpPr>
          <p:cNvPr id="26" name="Text 24"/>
          <p:cNvSpPr/>
          <p:nvPr/>
        </p:nvSpPr>
        <p:spPr>
          <a:xfrm>
            <a:off x="9720072" y="2927817"/>
            <a:ext cx="1225296" cy="274320"/>
          </a:xfrm>
          <a:prstGeom prst="rect">
            <a:avLst/>
          </a:prstGeom>
          <a:noFill/>
          <a:ln/>
        </p:spPr>
        <p:txBody>
          <a:bodyPr wrap="square" lIns="0" tIns="0" rIns="0" bIns="0" rtlCol="0" anchor="ctr">
            <a:normAutofit/>
          </a:bodyPr>
          <a:lstStyle/>
          <a:p>
            <a:pPr algn="ctr" indent="0" marL="0">
              <a:buNone/>
            </a:pPr>
            <a:r>
              <a:rPr lang="en-US" sz="1700" b="1" dirty="0">
                <a:solidFill>
                  <a:srgbClr val="0F766E"/>
                </a:solidFill>
                <a:latin typeface="Arimo" pitchFamily="34" charset="0"/>
                <a:ea typeface="Arimo" pitchFamily="34" charset="-122"/>
                <a:cs typeface="Arimo" pitchFamily="34" charset="-120"/>
              </a:rPr>
              <a:t>80.5%</a:t>
            </a:r>
            <a:endParaRPr lang="en-US" sz="1700" dirty="0"/>
          </a:p>
        </p:txBody>
      </p:sp>
      <p:sp>
        <p:nvSpPr>
          <p:cNvPr id="27" name="Text 25"/>
          <p:cNvSpPr/>
          <p:nvPr/>
        </p:nvSpPr>
        <p:spPr>
          <a:xfrm>
            <a:off x="9701784" y="5202936"/>
            <a:ext cx="1261872" cy="274320"/>
          </a:xfrm>
          <a:prstGeom prst="rect">
            <a:avLst/>
          </a:prstGeom>
          <a:noFill/>
          <a:ln/>
        </p:spPr>
        <p:txBody>
          <a:bodyPr wrap="square" lIns="0" tIns="0" rIns="0" bIns="0" rtlCol="0" anchor="ctr">
            <a:normAutofit/>
          </a:bodyPr>
          <a:lstStyle/>
          <a:p>
            <a:pPr algn="ctr" indent="0" marL="0">
              <a:buNone/>
            </a:pPr>
            <a:r>
              <a:rPr lang="en-US" sz="1400" b="1" dirty="0">
                <a:solidFill>
                  <a:srgbClr val="111827"/>
                </a:solidFill>
                <a:latin typeface="Arimo" pitchFamily="34" charset="0"/>
                <a:ea typeface="Arimo" pitchFamily="34" charset="-122"/>
                <a:cs typeface="Arimo" pitchFamily="34" charset="-120"/>
              </a:rPr>
              <a:t>8 reps</a:t>
            </a:r>
            <a:endParaRPr lang="en-US" sz="1400" dirty="0"/>
          </a:p>
        </p:txBody>
      </p:sp>
      <p:sp>
        <p:nvSpPr>
          <p:cNvPr id="28" name="Shape 26"/>
          <p:cNvSpPr/>
          <p:nvPr/>
        </p:nvSpPr>
        <p:spPr>
          <a:xfrm>
            <a:off x="5394960" y="5074920"/>
            <a:ext cx="5193792" cy="0"/>
          </a:xfrm>
          <a:prstGeom prst="line">
            <a:avLst/>
          </a:prstGeom>
          <a:noFill/>
          <a:ln w="12700">
            <a:solidFill>
              <a:srgbClr val="D1D5DB"/>
            </a:solidFill>
            <a:prstDash val="solid"/>
          </a:ln>
        </p:spPr>
        <p:txBody>
          <a:bodyPr/>
          <a:p/>
        </p:txBody>
      </p:sp>
      <p:sp>
        <p:nvSpPr>
          <p:cNvPr id="29" name="Shape 27"/>
          <p:cNvSpPr/>
          <p:nvPr/>
        </p:nvSpPr>
        <p:spPr>
          <a:xfrm>
            <a:off x="5486400" y="5532120"/>
            <a:ext cx="1170432" cy="329184"/>
          </a:xfrm>
          <a:prstGeom prst="roundRect">
            <a:avLst>
              <a:gd name="adj" fmla="val 33333"/>
            </a:avLst>
          </a:prstGeom>
          <a:solidFill>
            <a:srgbClr val="F3F4F6"/>
          </a:solidFill>
          <a:ln w="12700">
            <a:solidFill>
              <a:srgbClr val="F3F4F6"/>
            </a:solidFill>
            <a:prstDash val="solid"/>
          </a:ln>
        </p:spPr>
        <p:txBody>
          <a:bodyPr/>
          <a:p/>
        </p:txBody>
      </p:sp>
      <p:sp>
        <p:nvSpPr>
          <p:cNvPr id="30" name="Text 28"/>
          <p:cNvSpPr/>
          <p:nvPr/>
        </p:nvSpPr>
        <p:spPr>
          <a:xfrm>
            <a:off x="5559552" y="5582412"/>
            <a:ext cx="1024128" cy="201168"/>
          </a:xfrm>
          <a:prstGeom prst="rect">
            <a:avLst/>
          </a:prstGeom>
          <a:noFill/>
          <a:ln/>
        </p:spPr>
        <p:txBody>
          <a:bodyPr wrap="square" lIns="0" tIns="0" rIns="0" bIns="0" rtlCol="0" anchor="ctr">
            <a:normAutofit/>
          </a:bodyPr>
          <a:lstStyle/>
          <a:p>
            <a:pPr algn="ctr" indent="0" marL="0">
              <a:buNone/>
            </a:pPr>
            <a:r>
              <a:rPr lang="en-US" sz="1050" b="1" dirty="0">
                <a:solidFill>
                  <a:srgbClr val="4B5563"/>
                </a:solidFill>
                <a:latin typeface="Arimo" pitchFamily="34" charset="0"/>
                <a:ea typeface="Arimo" pitchFamily="34" charset="-122"/>
                <a:cs typeface="Arimo" pitchFamily="34" charset="-120"/>
              </a:rPr>
              <a:t>QC FLOOR</a:t>
            </a:r>
            <a:endParaRPr lang="en-US" sz="1050" dirty="0"/>
          </a:p>
        </p:txBody>
      </p:sp>
      <p:sp>
        <p:nvSpPr>
          <p:cNvPr id="31" name="Shape 29"/>
          <p:cNvSpPr/>
          <p:nvPr/>
        </p:nvSpPr>
        <p:spPr>
          <a:xfrm>
            <a:off x="9756648" y="5532120"/>
            <a:ext cx="1078992" cy="329184"/>
          </a:xfrm>
          <a:prstGeom prst="roundRect">
            <a:avLst>
              <a:gd name="adj" fmla="val 33333"/>
            </a:avLst>
          </a:prstGeom>
          <a:solidFill>
            <a:srgbClr val="ECFDF5"/>
          </a:solidFill>
          <a:ln w="12700">
            <a:solidFill>
              <a:srgbClr val="ECFDF5"/>
            </a:solidFill>
            <a:prstDash val="solid"/>
          </a:ln>
        </p:spPr>
        <p:txBody>
          <a:bodyPr/>
          <a:p/>
        </p:txBody>
      </p:sp>
      <p:sp>
        <p:nvSpPr>
          <p:cNvPr id="32" name="Text 30"/>
          <p:cNvSpPr/>
          <p:nvPr/>
        </p:nvSpPr>
        <p:spPr>
          <a:xfrm>
            <a:off x="9829800" y="5582412"/>
            <a:ext cx="932688" cy="201168"/>
          </a:xfrm>
          <a:prstGeom prst="rect">
            <a:avLst/>
          </a:prstGeom>
          <a:noFill/>
          <a:ln/>
        </p:spPr>
        <p:txBody>
          <a:bodyPr wrap="square" lIns="0" tIns="0" rIns="0" bIns="0" rtlCol="0" anchor="ctr">
            <a:normAutofit/>
          </a:bodyPr>
          <a:lstStyle/>
          <a:p>
            <a:pPr algn="ctr" indent="0" marL="0">
              <a:buNone/>
            </a:pPr>
            <a:r>
              <a:rPr lang="en-US" sz="1050" b="1" dirty="0">
                <a:solidFill>
                  <a:srgbClr val="0F766E"/>
                </a:solidFill>
                <a:latin typeface="Arimo" pitchFamily="34" charset="0"/>
                <a:ea typeface="Arimo" pitchFamily="34" charset="-122"/>
                <a:cs typeface="Arimo" pitchFamily="34" charset="-120"/>
              </a:rPr>
              <a:t>TARGET</a:t>
            </a:r>
            <a:endParaRPr lang="en-US" sz="1050" dirty="0"/>
          </a:p>
        </p:txBody>
      </p:sp>
      <p:sp>
        <p:nvSpPr>
          <p:cNvPr id="33" name="Text 31"/>
          <p:cNvSpPr/>
          <p:nvPr/>
        </p:nvSpPr>
        <p:spPr>
          <a:xfrm>
            <a:off x="5166360" y="5925312"/>
            <a:ext cx="5897880" cy="310896"/>
          </a:xfrm>
          <a:prstGeom prst="rect">
            <a:avLst/>
          </a:prstGeom>
          <a:noFill/>
          <a:ln/>
        </p:spPr>
        <p:txBody>
          <a:bodyPr wrap="square" lIns="0" tIns="0" rIns="0" bIns="0" rtlCol="0" anchor="ctr">
            <a:normAutofit/>
          </a:bodyPr>
          <a:lstStyle/>
          <a:p>
            <a:r>
              <a:t>4 reps = QC floor. Target 8. Report effect size + 95% CI.</a:t>
            </a:r>
          </a:p>
        </p:txBody>
      </p:sp>
      <p:sp>
        <p:nvSpPr>
          <p:cNvPr id="25" name="Slide Number Placeholder 0"/>
          <p:cNvSpPr>
            <a:spLocks noGrp="1"/>
          </p:cNvSpPr>
          <p:nvPr>
            <p:ph type="sldNum" sz="quarter" idx="4294967295"/>
          </p:nvPr>
        </p:nvSpPr>
        <p:spPr>
          <a:xfrm>
            <a:off x="11265408" y="6565392"/>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9CA3AF"/>
                </a:solidFill>
                <a:latin typeface="Arimo"/>
                <a:ea typeface="Arimo"/>
                <a:cs typeface="Arim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0744200" y="329184"/>
            <a:ext cx="941832" cy="292608"/>
          </a:xfrm>
          <a:prstGeom prst="roundRect">
            <a:avLst>
              <a:gd name="adj" fmla="val 18750"/>
            </a:avLst>
          </a:prstGeom>
          <a:solidFill>
            <a:srgbClr val="F3F4F6"/>
          </a:solidFill>
          <a:ln w="7620">
            <a:solidFill>
              <a:srgbClr val="D1D5DB"/>
            </a:solidFill>
            <a:prstDash val="solid"/>
          </a:ln>
        </p:spPr>
        <p:txBody>
          <a:bodyPr/>
          <a:p/>
        </p:txBody>
      </p:sp>
      <p:sp>
        <p:nvSpPr>
          <p:cNvPr id="3" name="Text 1"/>
          <p:cNvSpPr/>
          <p:nvPr/>
        </p:nvSpPr>
        <p:spPr>
          <a:xfrm>
            <a:off x="10762488" y="361188"/>
            <a:ext cx="905256" cy="173736"/>
          </a:xfrm>
          <a:prstGeom prst="rect">
            <a:avLst/>
          </a:prstGeom>
          <a:noFill/>
          <a:ln/>
        </p:spPr>
        <p:txBody>
          <a:bodyPr wrap="square" lIns="0" tIns="0" rIns="0" bIns="0" rtlCol="0" anchor="ctr">
            <a:normAutofit/>
          </a:bodyPr>
          <a:lstStyle/>
          <a:p>
            <a:r>
              <a:t>2:34-3:00</a:t>
            </a:r>
          </a:p>
        </p:txBody>
      </p:sp>
      <p:sp>
        <p:nvSpPr>
          <p:cNvPr id="4" name="Text 2"/>
          <p:cNvSpPr/>
          <p:nvPr/>
        </p:nvSpPr>
        <p:spPr>
          <a:xfrm>
            <a:off x="502920" y="329184"/>
            <a:ext cx="10012680" cy="502920"/>
          </a:xfrm>
          <a:prstGeom prst="rect">
            <a:avLst/>
          </a:prstGeom>
          <a:noFill/>
          <a:ln/>
        </p:spPr>
        <p:txBody>
          <a:bodyPr wrap="square" lIns="0" tIns="0" rIns="0" bIns="0" rtlCol="0" anchor="ctr">
            <a:normAutofit/>
          </a:bodyPr>
          <a:lstStyle/>
          <a:p>
            <a:pPr algn="l" indent="0" marL="0">
              <a:buNone/>
            </a:pPr>
            <a:r>
              <a:rPr lang="en-US" sz="2700" b="1" dirty="0">
                <a:solidFill>
                  <a:srgbClr val="111827"/>
                </a:solidFill>
                <a:latin typeface="Arimo" pitchFamily="34" charset="0"/>
                <a:ea typeface="Arimo" pitchFamily="34" charset="-122"/>
                <a:cs typeface="Arimo" pitchFamily="34" charset="-120"/>
              </a:rPr>
              <a:t>For the family and clinical team</a:t>
            </a:r>
            <a:endParaRPr lang="en-US" sz="2700" dirty="0"/>
          </a:p>
        </p:txBody>
      </p:sp>
      <p:sp>
        <p:nvSpPr>
          <p:cNvPr id="5" name="Text 3"/>
          <p:cNvSpPr/>
          <p:nvPr/>
        </p:nvSpPr>
        <p:spPr>
          <a:xfrm>
            <a:off x="502920" y="841248"/>
            <a:ext cx="10012680" cy="310896"/>
          </a:xfrm>
          <a:prstGeom prst="rect">
            <a:avLst/>
          </a:prstGeom>
          <a:noFill/>
          <a:ln/>
        </p:spPr>
        <p:txBody>
          <a:bodyPr wrap="square" lIns="0" tIns="0" rIns="0" bIns="0" rtlCol="0" anchor="ctr">
            <a:normAutofit/>
          </a:bodyPr>
          <a:lstStyle/>
          <a:p>
            <a:r>
              <a:t>What is known, what is not, and the cheapest decisive next test</a:t>
            </a:r>
          </a:p>
        </p:txBody>
      </p:sp>
      <p:sp>
        <p:nvSpPr>
          <p:cNvPr id="6" name="Text 4"/>
          <p:cNvSpPr/>
          <p:nvPr/>
        </p:nvSpPr>
        <p:spPr>
          <a:xfrm>
            <a:off x="10058400" y="1143000"/>
            <a:ext cx="1143000" cy="228600"/>
          </a:xfrm>
          <a:prstGeom prst="rect">
            <a:avLst/>
          </a:prstGeom>
          <a:noFill/>
          <a:ln/>
        </p:spPr>
        <p:txBody>
          <a:bodyPr wrap="square" lIns="0" tIns="0" rIns="0" bIns="0" rtlCol="0" anchor="ctr">
            <a:normAutofit/>
          </a:bodyPr>
          <a:lstStyle/>
          <a:p>
            <a:pPr algn="r" indent="0" marL="0">
              <a:buNone/>
            </a:pPr>
            <a:r>
              <a:rPr lang="en-US" sz="1150" dirty="0">
                <a:solidFill>
                  <a:srgbClr val="4B5563"/>
                </a:solidFill>
                <a:latin typeface="Arimo" pitchFamily="34" charset="0"/>
                <a:ea typeface="Arimo" pitchFamily="34" charset="-122"/>
                <a:cs typeface="Arimo" pitchFamily="34" charset="-120"/>
              </a:rPr>
              <a:t>HF: kotgienia</a:t>
            </a:r>
            <a:endParaRPr lang="en-US" sz="1150" dirty="0"/>
          </a:p>
        </p:txBody>
      </p:sp>
      <p:sp>
        <p:nvSpPr>
          <p:cNvPr id="7" name="Shape 5"/>
          <p:cNvSpPr/>
          <p:nvPr/>
        </p:nvSpPr>
        <p:spPr>
          <a:xfrm>
            <a:off x="594360" y="1508760"/>
            <a:ext cx="3429000" cy="3108960"/>
          </a:xfrm>
          <a:prstGeom prst="roundRect">
            <a:avLst>
              <a:gd name="adj" fmla="val 2353"/>
            </a:avLst>
          </a:prstGeom>
          <a:solidFill>
            <a:srgbClr val="F0FDF4"/>
          </a:solidFill>
          <a:ln w="12700">
            <a:solidFill>
              <a:srgbClr val="BBF7D0"/>
            </a:solidFill>
            <a:prstDash val="solid"/>
          </a:ln>
        </p:spPr>
      </p:sp>
      <p:sp>
        <p:nvSpPr>
          <p:cNvPr id="8" name="Shape 6"/>
          <p:cNvSpPr/>
          <p:nvPr/>
        </p:nvSpPr>
        <p:spPr>
          <a:xfrm>
            <a:off x="850392" y="1810512"/>
            <a:ext cx="1280160" cy="329184"/>
          </a:xfrm>
          <a:prstGeom prst="roundRect">
            <a:avLst>
              <a:gd name="adj" fmla="val 33333"/>
            </a:avLst>
          </a:prstGeom>
          <a:solidFill>
            <a:srgbClr val="FFFFFF"/>
          </a:solidFill>
          <a:ln w="12700">
            <a:solidFill>
              <a:srgbClr val="FFFFFF"/>
            </a:solidFill>
            <a:prstDash val="solid"/>
          </a:ln>
        </p:spPr>
      </p:sp>
      <p:sp>
        <p:nvSpPr>
          <p:cNvPr id="9" name="Text 7"/>
          <p:cNvSpPr/>
          <p:nvPr/>
        </p:nvSpPr>
        <p:spPr>
          <a:xfrm>
            <a:off x="923544" y="1860804"/>
            <a:ext cx="1133856" cy="201168"/>
          </a:xfrm>
          <a:prstGeom prst="rect">
            <a:avLst/>
          </a:prstGeom>
          <a:noFill/>
          <a:ln/>
        </p:spPr>
        <p:txBody>
          <a:bodyPr wrap="square" lIns="0" tIns="0" rIns="0" bIns="0" rtlCol="0" anchor="ctr">
            <a:normAutofit/>
          </a:bodyPr>
          <a:lstStyle/>
          <a:p>
            <a:pPr algn="ctr" indent="0" marL="0">
              <a:buNone/>
            </a:pPr>
            <a:r>
              <a:rPr lang="en-US" sz="1050" b="1" dirty="0">
                <a:solidFill>
                  <a:srgbClr val="15803D"/>
                </a:solidFill>
                <a:latin typeface="Arimo" pitchFamily="34" charset="0"/>
                <a:ea typeface="Arimo" pitchFamily="34" charset="-122"/>
                <a:cs typeface="Arimo" pitchFamily="34" charset="-120"/>
              </a:rPr>
              <a:t>KNOWN</a:t>
            </a:r>
            <a:endParaRPr lang="en-US" sz="1050" dirty="0"/>
          </a:p>
        </p:txBody>
      </p:sp>
      <p:sp>
        <p:nvSpPr>
          <p:cNvPr id="10" name="Text 8"/>
          <p:cNvSpPr/>
          <p:nvPr/>
        </p:nvSpPr>
        <p:spPr>
          <a:xfrm>
            <a:off x="850392" y="2350008"/>
            <a:ext cx="2916936" cy="347472"/>
          </a:xfrm>
          <a:prstGeom prst="rect">
            <a:avLst/>
          </a:prstGeom>
          <a:noFill/>
          <a:ln/>
        </p:spPr>
        <p:txBody>
          <a:bodyPr wrap="square" lIns="0" tIns="0" rIns="0" bIns="0" rtlCol="0" anchor="ctr">
            <a:normAutofit/>
          </a:bodyPr>
          <a:lstStyle/>
          <a:p>
            <a:pPr algn="l" indent="0" marL="0">
              <a:buNone/>
            </a:pPr>
            <a:r>
              <a:rPr lang="en-US" sz="2100" b="1" dirty="0">
                <a:solidFill>
                  <a:srgbClr val="15803D"/>
                </a:solidFill>
                <a:latin typeface="Arimo" pitchFamily="34" charset="0"/>
                <a:ea typeface="Arimo" pitchFamily="34" charset="-122"/>
                <a:cs typeface="Arimo" pitchFamily="34" charset="-120"/>
              </a:rPr>
              <a:t>What is known</a:t>
            </a:r>
            <a:endParaRPr lang="en-US" sz="2100" dirty="0"/>
          </a:p>
        </p:txBody>
      </p:sp>
      <p:sp>
        <p:nvSpPr>
          <p:cNvPr id="11" name="Text 9"/>
          <p:cNvSpPr/>
          <p:nvPr/>
        </p:nvSpPr>
        <p:spPr>
          <a:xfrm>
            <a:off x="850392" y="2898648"/>
            <a:ext cx="2916936" cy="1060704"/>
          </a:xfrm>
          <a:prstGeom prst="rect">
            <a:avLst/>
          </a:prstGeom>
          <a:noFill/>
          <a:ln/>
        </p:spPr>
        <p:txBody>
          <a:bodyPr wrap="square" lIns="0" tIns="0" rIns="0" bIns="0" rtlCol="0" anchor="ctr">
            <a:normAutofit/>
          </a:bodyPr>
          <a:lstStyle/>
          <a:p>
            <a:pPr algn="ctr" indent="0" marL="0">
              <a:buNone/>
            </a:pPr>
            <a:r>
              <a:rPr lang="en-US" sz="1720" b="1" dirty="0">
                <a:solidFill>
                  <a:srgbClr val="111827"/>
                </a:solidFill>
                <a:latin typeface="Arimo" pitchFamily="34" charset="0"/>
                <a:ea typeface="Arimo" pitchFamily="34" charset="-122"/>
                <a:cs typeface="Arimo" pitchFamily="34" charset="-120"/>
              </a:rPr>
              <a:t>BUB1B L737* + N1002K is the scorer-confirmed leading genetic hypothesis.</a:t>
            </a:r>
            <a:endParaRPr lang="en-US" sz="1720" dirty="0"/>
          </a:p>
        </p:txBody>
      </p:sp>
      <p:sp>
        <p:nvSpPr>
          <p:cNvPr id="12" name="Shape 10"/>
          <p:cNvSpPr/>
          <p:nvPr/>
        </p:nvSpPr>
        <p:spPr>
          <a:xfrm>
            <a:off x="4370832" y="1508760"/>
            <a:ext cx="3429000" cy="3108960"/>
          </a:xfrm>
          <a:prstGeom prst="roundRect">
            <a:avLst>
              <a:gd name="adj" fmla="val 2353"/>
            </a:avLst>
          </a:prstGeom>
          <a:solidFill>
            <a:srgbClr val="FEF2F2"/>
          </a:solidFill>
          <a:ln w="12700">
            <a:solidFill>
              <a:srgbClr val="FECACA"/>
            </a:solidFill>
            <a:prstDash val="solid"/>
          </a:ln>
        </p:spPr>
      </p:sp>
      <p:sp>
        <p:nvSpPr>
          <p:cNvPr id="13" name="Shape 11"/>
          <p:cNvSpPr/>
          <p:nvPr/>
        </p:nvSpPr>
        <p:spPr>
          <a:xfrm>
            <a:off x="4626864" y="1810512"/>
            <a:ext cx="1280160" cy="329184"/>
          </a:xfrm>
          <a:prstGeom prst="roundRect">
            <a:avLst>
              <a:gd name="adj" fmla="val 33333"/>
            </a:avLst>
          </a:prstGeom>
          <a:solidFill>
            <a:srgbClr val="FFFFFF"/>
          </a:solidFill>
          <a:ln w="12700">
            <a:solidFill>
              <a:srgbClr val="FFFFFF"/>
            </a:solidFill>
            <a:prstDash val="solid"/>
          </a:ln>
        </p:spPr>
      </p:sp>
      <p:sp>
        <p:nvSpPr>
          <p:cNvPr id="14" name="Text 12"/>
          <p:cNvSpPr/>
          <p:nvPr/>
        </p:nvSpPr>
        <p:spPr>
          <a:xfrm>
            <a:off x="4700016" y="1860804"/>
            <a:ext cx="1133856" cy="201168"/>
          </a:xfrm>
          <a:prstGeom prst="rect">
            <a:avLst/>
          </a:prstGeom>
          <a:noFill/>
          <a:ln/>
        </p:spPr>
        <p:txBody>
          <a:bodyPr wrap="square" lIns="0" tIns="0" rIns="0" bIns="0" rtlCol="0" anchor="ctr">
            <a:normAutofit/>
          </a:bodyPr>
          <a:lstStyle/>
          <a:p>
            <a:pPr algn="ctr" indent="0" marL="0">
              <a:buNone/>
            </a:pPr>
            <a:r>
              <a:rPr lang="en-US" sz="1050" b="1" dirty="0">
                <a:solidFill>
                  <a:srgbClr val="B91C1C"/>
                </a:solidFill>
                <a:latin typeface="Arimo" pitchFamily="34" charset="0"/>
                <a:ea typeface="Arimo" pitchFamily="34" charset="-122"/>
                <a:cs typeface="Arimo" pitchFamily="34" charset="-120"/>
              </a:rPr>
              <a:t>UNKNOWN</a:t>
            </a:r>
            <a:endParaRPr lang="en-US" sz="1050" dirty="0"/>
          </a:p>
        </p:txBody>
      </p:sp>
      <p:sp>
        <p:nvSpPr>
          <p:cNvPr id="15" name="Text 13"/>
          <p:cNvSpPr/>
          <p:nvPr/>
        </p:nvSpPr>
        <p:spPr>
          <a:xfrm>
            <a:off x="4626864" y="2350008"/>
            <a:ext cx="2916936" cy="347472"/>
          </a:xfrm>
          <a:prstGeom prst="rect">
            <a:avLst/>
          </a:prstGeom>
          <a:noFill/>
          <a:ln/>
        </p:spPr>
        <p:txBody>
          <a:bodyPr wrap="square" lIns="0" tIns="0" rIns="0" bIns="0" rtlCol="0" anchor="ctr">
            <a:normAutofit/>
          </a:bodyPr>
          <a:lstStyle/>
          <a:p>
            <a:pPr algn="l" indent="0" marL="0">
              <a:buNone/>
            </a:pPr>
            <a:r>
              <a:rPr lang="en-US" sz="2100" b="1" dirty="0">
                <a:solidFill>
                  <a:srgbClr val="B91C1C"/>
                </a:solidFill>
                <a:latin typeface="Arimo" pitchFamily="34" charset="0"/>
                <a:ea typeface="Arimo" pitchFamily="34" charset="-122"/>
                <a:cs typeface="Arimo" pitchFamily="34" charset="-120"/>
              </a:rPr>
              <a:t>What is not known</a:t>
            </a:r>
            <a:endParaRPr lang="en-US" sz="2100" dirty="0"/>
          </a:p>
        </p:txBody>
      </p:sp>
      <p:sp>
        <p:nvSpPr>
          <p:cNvPr id="16" name="Text 14"/>
          <p:cNvSpPr/>
          <p:nvPr/>
        </p:nvSpPr>
        <p:spPr>
          <a:xfrm>
            <a:off x="4626864" y="2898648"/>
            <a:ext cx="2916936" cy="1060704"/>
          </a:xfrm>
          <a:prstGeom prst="rect">
            <a:avLst/>
          </a:prstGeom>
          <a:noFill/>
          <a:ln/>
        </p:spPr>
        <p:txBody>
          <a:bodyPr wrap="square" lIns="0" tIns="0" rIns="0" bIns="0" rtlCol="0" anchor="ctr">
            <a:normAutofit/>
          </a:bodyPr>
          <a:lstStyle/>
          <a:p>
            <a:pPr algn="ctr" indent="0" marL="0">
              <a:buNone/>
            </a:pPr>
            <a:r>
              <a:rPr lang="en-US" sz="1720" b="1" dirty="0">
                <a:solidFill>
                  <a:srgbClr val="111827"/>
                </a:solidFill>
                <a:latin typeface="Arimo" pitchFamily="34" charset="0"/>
                <a:ea typeface="Arimo" pitchFamily="34" charset="-122"/>
                <a:cs typeface="Arimo" pitchFamily="34" charset="-120"/>
              </a:rPr>
              <a:t>Phase, N1002K mechanism, and therapy are not proven.</a:t>
            </a:r>
            <a:endParaRPr lang="en-US" sz="1720" dirty="0"/>
          </a:p>
        </p:txBody>
      </p:sp>
      <p:sp>
        <p:nvSpPr>
          <p:cNvPr id="17" name="Shape 15"/>
          <p:cNvSpPr/>
          <p:nvPr/>
        </p:nvSpPr>
        <p:spPr>
          <a:xfrm>
            <a:off x="8147304" y="1508760"/>
            <a:ext cx="3429000" cy="3108960"/>
          </a:xfrm>
          <a:prstGeom prst="roundRect">
            <a:avLst>
              <a:gd name="adj" fmla="val 2353"/>
            </a:avLst>
          </a:prstGeom>
          <a:solidFill>
            <a:srgbClr val="EFF6FF"/>
          </a:solidFill>
          <a:ln w="12700">
            <a:solidFill>
              <a:srgbClr val="BFDBFE"/>
            </a:solidFill>
            <a:prstDash val="solid"/>
          </a:ln>
        </p:spPr>
      </p:sp>
      <p:sp>
        <p:nvSpPr>
          <p:cNvPr id="18" name="Shape 16"/>
          <p:cNvSpPr/>
          <p:nvPr/>
        </p:nvSpPr>
        <p:spPr>
          <a:xfrm>
            <a:off x="8403336" y="1810512"/>
            <a:ext cx="1280160" cy="329184"/>
          </a:xfrm>
          <a:prstGeom prst="roundRect">
            <a:avLst>
              <a:gd name="adj" fmla="val 33333"/>
            </a:avLst>
          </a:prstGeom>
          <a:solidFill>
            <a:srgbClr val="FFFFFF"/>
          </a:solidFill>
          <a:ln w="12700">
            <a:solidFill>
              <a:srgbClr val="FFFFFF"/>
            </a:solidFill>
            <a:prstDash val="solid"/>
          </a:ln>
        </p:spPr>
      </p:sp>
      <p:sp>
        <p:nvSpPr>
          <p:cNvPr id="19" name="Text 17"/>
          <p:cNvSpPr/>
          <p:nvPr/>
        </p:nvSpPr>
        <p:spPr>
          <a:xfrm>
            <a:off x="8476488" y="1860804"/>
            <a:ext cx="1133856" cy="201168"/>
          </a:xfrm>
          <a:prstGeom prst="rect">
            <a:avLst/>
          </a:prstGeom>
          <a:noFill/>
          <a:ln/>
        </p:spPr>
        <p:txBody>
          <a:bodyPr wrap="square" lIns="0" tIns="0" rIns="0" bIns="0" rtlCol="0" anchor="ctr">
            <a:normAutofit/>
          </a:bodyPr>
          <a:lstStyle/>
          <a:p>
            <a:pPr algn="ctr" indent="0" marL="0">
              <a:buNone/>
            </a:pPr>
            <a:r>
              <a:rPr lang="en-US" sz="1050" b="1" dirty="0">
                <a:solidFill>
                  <a:srgbClr val="2563EB"/>
                </a:solidFill>
                <a:latin typeface="Arimo" pitchFamily="34" charset="0"/>
                <a:ea typeface="Arimo" pitchFamily="34" charset="-122"/>
                <a:cs typeface="Arimo" pitchFamily="34" charset="-120"/>
              </a:rPr>
              <a:t>NEXT</a:t>
            </a:r>
            <a:endParaRPr lang="en-US" sz="1050" dirty="0"/>
          </a:p>
        </p:txBody>
      </p:sp>
      <p:sp>
        <p:nvSpPr>
          <p:cNvPr id="20" name="Text 18"/>
          <p:cNvSpPr/>
          <p:nvPr/>
        </p:nvSpPr>
        <p:spPr>
          <a:xfrm>
            <a:off x="8403336" y="2350008"/>
            <a:ext cx="2916936" cy="347472"/>
          </a:xfrm>
          <a:prstGeom prst="rect">
            <a:avLst/>
          </a:prstGeom>
          <a:noFill/>
          <a:ln/>
        </p:spPr>
        <p:txBody>
          <a:bodyPr wrap="square" lIns="0" tIns="0" rIns="0" bIns="0" rtlCol="0" anchor="ctr">
            <a:normAutofit/>
          </a:bodyPr>
          <a:lstStyle/>
          <a:p>
            <a:pPr algn="l" indent="0" marL="0">
              <a:buNone/>
            </a:pPr>
            <a:r>
              <a:rPr lang="en-US" sz="2100" b="1" dirty="0">
                <a:solidFill>
                  <a:srgbClr val="2563EB"/>
                </a:solidFill>
                <a:latin typeface="Arimo" pitchFamily="34" charset="0"/>
                <a:ea typeface="Arimo" pitchFamily="34" charset="-122"/>
                <a:cs typeface="Arimo" pitchFamily="34" charset="-120"/>
              </a:rPr>
              <a:t>Cheapest decisive test</a:t>
            </a:r>
            <a:endParaRPr lang="en-US" sz="2100" dirty="0"/>
          </a:p>
        </p:txBody>
      </p:sp>
      <p:sp>
        <p:nvSpPr>
          <p:cNvPr id="21" name="Text 19"/>
          <p:cNvSpPr/>
          <p:nvPr/>
        </p:nvSpPr>
        <p:spPr>
          <a:xfrm>
            <a:off x="8403336" y="2898648"/>
            <a:ext cx="2916936" cy="1060704"/>
          </a:xfrm>
          <a:prstGeom prst="rect">
            <a:avLst/>
          </a:prstGeom>
          <a:noFill/>
          <a:ln/>
        </p:spPr>
        <p:txBody>
          <a:bodyPr wrap="square" lIns="0" tIns="0" rIns="0" bIns="0" rtlCol="0" anchor="ctr">
            <a:normAutofit/>
          </a:bodyPr>
          <a:lstStyle/>
          <a:p>
            <a:pPr algn="ctr" indent="0" marL="0">
              <a:buNone/>
            </a:pPr>
            <a:r>
              <a:rPr lang="en-US" sz="1720" b="1" dirty="0">
                <a:solidFill>
                  <a:srgbClr val="111827"/>
                </a:solidFill>
                <a:latin typeface="Arimo" pitchFamily="34" charset="0"/>
                <a:ea typeface="Arimo" pitchFamily="34" charset="-122"/>
                <a:cs typeface="Arimo" pitchFamily="34" charset="-120"/>
              </a:rPr>
              <a:t>Parental genotyping of both BUB1B variants: trans strengthens the model; cis reopens the search.</a:t>
            </a:r>
            <a:endParaRPr lang="en-US" sz="1720" dirty="0"/>
          </a:p>
        </p:txBody>
      </p:sp>
      <p:sp>
        <p:nvSpPr>
          <p:cNvPr id="22" name="Shape 20"/>
          <p:cNvSpPr/>
          <p:nvPr/>
        </p:nvSpPr>
        <p:spPr>
          <a:xfrm>
            <a:off x="4270248" y="4965192"/>
            <a:ext cx="3675888" cy="329184"/>
          </a:xfrm>
          <a:prstGeom prst="roundRect">
            <a:avLst>
              <a:gd name="adj" fmla="val 33333"/>
            </a:avLst>
          </a:prstGeom>
          <a:solidFill>
            <a:srgbClr val="FEF2F2"/>
          </a:solidFill>
          <a:ln w="12700">
            <a:solidFill>
              <a:srgbClr val="FEF2F2"/>
            </a:solidFill>
            <a:prstDash val="solid"/>
          </a:ln>
        </p:spPr>
      </p:sp>
      <p:sp>
        <p:nvSpPr>
          <p:cNvPr id="23" name="Text 21"/>
          <p:cNvSpPr/>
          <p:nvPr/>
        </p:nvSpPr>
        <p:spPr>
          <a:xfrm>
            <a:off x="4343400" y="5015484"/>
            <a:ext cx="3529584" cy="201168"/>
          </a:xfrm>
          <a:prstGeom prst="rect">
            <a:avLst/>
          </a:prstGeom>
          <a:noFill/>
          <a:ln/>
        </p:spPr>
        <p:txBody>
          <a:bodyPr wrap="square" lIns="0" tIns="0" rIns="0" bIns="0" rtlCol="0" anchor="ctr">
            <a:normAutofit/>
          </a:bodyPr>
          <a:lstStyle/>
          <a:p>
            <a:pPr algn="ctr" indent="0" marL="0">
              <a:buNone/>
            </a:pPr>
            <a:r>
              <a:rPr lang="en-US" sz="1050" b="1" dirty="0">
                <a:solidFill>
                  <a:srgbClr val="B91C1C"/>
                </a:solidFill>
                <a:latin typeface="Arimo" pitchFamily="34" charset="0"/>
                <a:ea typeface="Arimo" pitchFamily="34" charset="-122"/>
                <a:cs typeface="Arimo" pitchFamily="34" charset="-120"/>
              </a:rPr>
              <a:t>NO TREATMENT RECOMMENDATION</a:t>
            </a:r>
            <a:endParaRPr lang="en-US" sz="1050" dirty="0"/>
          </a:p>
        </p:txBody>
      </p:sp>
      <p:sp>
        <p:nvSpPr>
          <p:cNvPr id="24" name="Text 22"/>
          <p:cNvSpPr/>
          <p:nvPr/>
        </p:nvSpPr>
        <p:spPr>
          <a:xfrm>
            <a:off x="1353312" y="5623560"/>
            <a:ext cx="9537192" cy="384048"/>
          </a:xfrm>
          <a:prstGeom prst="rect">
            <a:avLst/>
          </a:prstGeom>
          <a:noFill/>
          <a:ln/>
        </p:spPr>
        <p:txBody>
          <a:bodyPr wrap="square" lIns="0" tIns="0" rIns="0" bIns="0" rtlCol="0" anchor="ctr">
            <a:normAutofit/>
          </a:bodyPr>
          <a:lstStyle/>
          <a:p>
            <a:pPr algn="ctr" indent="0" marL="0">
              <a:buNone/>
            </a:pPr>
            <a:r>
              <a:rPr lang="en-US" sz="2000" b="1" dirty="0">
                <a:solidFill>
                  <a:srgbClr val="111827"/>
                </a:solidFill>
                <a:latin typeface="Arimo" pitchFamily="34" charset="0"/>
                <a:ea typeface="Arimo" pitchFamily="34" charset="-122"/>
                <a:cs typeface="Arimo" pitchFamily="34" charset="-120"/>
              </a:rPr>
              <a:t>Track 2 delivers a pre-specified way to decide when to continue and when to stop.</a:t>
            </a:r>
            <a:endParaRPr lang="en-US" sz="2000" dirty="0"/>
          </a:p>
        </p:txBody>
      </p:sp>
      <p:sp>
        <p:nvSpPr>
          <p:cNvPr id="25" name="Slide Number Placeholder 0"/>
          <p:cNvSpPr>
            <a:spLocks noGrp="1"/>
          </p:cNvSpPr>
          <p:nvPr>
            <p:ph type="sldNum" sz="quarter" idx="4294967295"/>
          </p:nvPr>
        </p:nvSpPr>
        <p:spPr>
          <a:xfrm>
            <a:off x="11265408" y="6565392"/>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9CA3AF"/>
                </a:solidFill>
                <a:latin typeface="Arimo"/>
                <a:ea typeface="Arimo"/>
                <a:cs typeface="Arimo"/>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m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m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MVA Track 2 - Mechanism before treatment</dc:title>
  <dc:subject>Rare Disease, Real Kid: MVA Hackathon 2026 - Track 2 video presentation</dc:subject>
  <dc:creator>kotgienia</dc:creator>
  <cp:lastModifiedBy>kotgienia</cp:lastModifiedBy>
  <cp:revision>1</cp:revision>
  <dcterms:created xsi:type="dcterms:W3CDTF">2026-09-26T20:36:55Z</dcterms:created>
  <dcterms:modified xsi:type="dcterms:W3CDTF">2026-09-26T20:36:55Z</dcterms:modified>
</cp:coreProperties>
</file>